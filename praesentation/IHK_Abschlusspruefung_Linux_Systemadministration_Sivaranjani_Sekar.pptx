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074F73-2CCB-4E33-A649-0165C96B2A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25474B-ECFF-47EA-BAB1-381880BC01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4B689D-16E6-42CA-8E76-F3103C9BD6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096881-50D4-4F65-8D80-C5827680B3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471B6D-F613-4EE7-A813-BA5E019EE0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5C7AE0-A9AE-4A0F-B139-86112A38C3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D80613-E7C5-4446-A682-98F8F863A3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74D3C6-AA88-4B51-B3A7-1B4FD5B9F01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AA40AB-62F7-467F-BF0F-9FEDAC87F5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AC717A1-68DC-4ED4-90DA-165EB4FB3C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B76025C-E086-4B35-8CDE-43D2432A0F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61F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8778240" y="-182880"/>
            <a:ext cx="3840120" cy="3840120"/>
          </a:xfrm>
          <a:prstGeom prst="rect">
            <a:avLst/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10241280" y="4206240"/>
            <a:ext cx="2377080" cy="237708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-365760" y="5813280"/>
            <a:ext cx="2834280" cy="1645560"/>
          </a:xfrm>
          <a:prstGeom prst="rect">
            <a:avLst/>
          </a:prstGeom>
          <a:solidFill>
            <a:srgbClr val="1E7E8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731520" y="960120"/>
            <a:ext cx="6231240" cy="96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IHK ABSCHLUSSPROJEKT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LINUX SYSTEMADMINISTRATION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58880" y="254196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0E0F5"/>
                </a:solidFill>
                <a:effectLst/>
                <a:uFillTx/>
                <a:latin typeface="Aptos"/>
              </a:rPr>
              <a:t>Remote-Verwaltung eines Ubuntu-Firmenservers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777240" y="3182040"/>
            <a:ext cx="530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Fiktiver Auftraggeber: XYZ GmbH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8"/>
          <p:cNvSpPr/>
          <p:nvPr/>
        </p:nvSpPr>
        <p:spPr>
          <a:xfrm>
            <a:off x="749880" y="3913560"/>
            <a:ext cx="248688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868680" y="4079880"/>
            <a:ext cx="2248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Sivaranjani Sekar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11"/>
          <p:cNvSpPr/>
          <p:nvPr/>
        </p:nvSpPr>
        <p:spPr>
          <a:xfrm>
            <a:off x="3447360" y="3913560"/>
            <a:ext cx="248688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2"/>
          <p:cNvSpPr/>
          <p:nvPr/>
        </p:nvSpPr>
        <p:spPr>
          <a:xfrm>
            <a:off x="3566160" y="3996000"/>
            <a:ext cx="2248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PRÜFUNGSTERMIN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3"/>
          <p:cNvSpPr/>
          <p:nvPr/>
        </p:nvSpPr>
        <p:spPr>
          <a:xfrm>
            <a:off x="3566160" y="4187880"/>
            <a:ext cx="2248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29/09/2026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4"/>
          <p:cNvSpPr/>
          <p:nvPr/>
        </p:nvSpPr>
        <p:spPr>
          <a:xfrm>
            <a:off x="6144840" y="3913560"/>
            <a:ext cx="277056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5"/>
          <p:cNvSpPr/>
          <p:nvPr/>
        </p:nvSpPr>
        <p:spPr>
          <a:xfrm>
            <a:off x="6263640" y="3996000"/>
            <a:ext cx="2248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ROLLE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6"/>
          <p:cNvSpPr/>
          <p:nvPr/>
        </p:nvSpPr>
        <p:spPr>
          <a:xfrm>
            <a:off x="6263640" y="4114800"/>
            <a:ext cx="2432520" cy="26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Junior-Systemadministrator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9"/>
          <p:cNvSpPr/>
          <p:nvPr/>
        </p:nvSpPr>
        <p:spPr>
          <a:xfrm>
            <a:off x="868680" y="5029200"/>
            <a:ext cx="3584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server01 · 192.168.2.53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3"/>
          <p:cNvSpPr/>
          <p:nvPr/>
        </p:nvSpPr>
        <p:spPr>
          <a:xfrm>
            <a:off x="777240" y="635508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D7DCE6"/>
                </a:solidFill>
                <a:effectLst/>
                <a:uFillTx/>
                <a:latin typeface="Aptos"/>
              </a:rPr>
              <a:t>Projektpräsentation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feld 77"/>
          <p:cNvSpPr txBox="1"/>
          <p:nvPr/>
        </p:nvSpPr>
        <p:spPr>
          <a:xfrm>
            <a:off x="-6399360" y="-1809720"/>
            <a:ext cx="5369760" cy="2746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Folie 1: Titelfolie (IHK Abschlussprüfung)</a:t>
            </a:r>
          </a:p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Titel: IHK ABSCHLUSSPRÜFUNG LINUX SYSTEMADMINISTRATION</a:t>
            </a:r>
          </a:p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Thema: Remote-Verwaltung eines Ubuntu-Firmenservers (XYZ GmbH)</a:t>
            </a:r>
          </a:p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Prüfling: Sivaranjani Sekar</a:t>
            </a:r>
          </a:p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Prüfungstermin: 29/09/2026</a:t>
            </a:r>
          </a:p>
          <a:p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Eckdaten: Junior-Systemadministrator | Target: server01 (192.168.2.53) | Dauer: 20 Minuten.</a:t>
            </a: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1. Projektauftrag und Zielbild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Vom unstrukturierten Arbeitsplatz zur zentral verwalteten Serverumgebung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PROJEKT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5"/>
          <p:cNvSpPr/>
          <p:nvPr/>
        </p:nvSpPr>
        <p:spPr>
          <a:xfrm>
            <a:off x="640080" y="1234440"/>
            <a:ext cx="347436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Oval 6"/>
          <p:cNvSpPr/>
          <p:nvPr/>
        </p:nvSpPr>
        <p:spPr>
          <a:xfrm>
            <a:off x="804600" y="1398960"/>
            <a:ext cx="420120" cy="420120"/>
          </a:xfrm>
          <a:prstGeom prst="ellipse">
            <a:avLst/>
          </a:prstGeom>
          <a:solidFill>
            <a:srgbClr val="B7393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804600" y="1422000"/>
            <a:ext cx="42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1353240" y="137160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Ausgangslage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1353240" y="1710000"/>
            <a:ext cx="2605680" cy="7631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Dateien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verteilt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,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Zugriffsrechte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uneinheitlich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, Backups nicht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zuverlässig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geprüft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und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keine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täglichen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Statusberichte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0"/>
          <p:cNvSpPr/>
          <p:nvPr/>
        </p:nvSpPr>
        <p:spPr>
          <a:xfrm>
            <a:off x="4343400" y="1234440"/>
            <a:ext cx="347436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Oval 11"/>
          <p:cNvSpPr/>
          <p:nvPr/>
        </p:nvSpPr>
        <p:spPr>
          <a:xfrm>
            <a:off x="4507920" y="1398960"/>
            <a:ext cx="420120" cy="420120"/>
          </a:xfrm>
          <a:prstGeom prst="ellipse">
            <a:avLst/>
          </a:prstGeom>
          <a:solidFill>
            <a:srgbClr val="1E7E8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2"/>
          <p:cNvSpPr/>
          <p:nvPr/>
        </p:nvSpPr>
        <p:spPr>
          <a:xfrm>
            <a:off x="4507920" y="1422000"/>
            <a:ext cx="42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5056560" y="137160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Ziel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4"/>
          <p:cNvSpPr/>
          <p:nvPr/>
        </p:nvSpPr>
        <p:spPr>
          <a:xfrm>
            <a:off x="5056560" y="1710000"/>
            <a:ext cx="2605680" cy="9401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Ein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nachvollziehbarer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Firmenserver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mit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Benutzer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-/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Gruppenverwaltung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,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Rechtekonzept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,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Skripten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, Backup/Restore, Cronjobs und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Logauswertung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5"/>
          <p:cNvSpPr/>
          <p:nvPr/>
        </p:nvSpPr>
        <p:spPr>
          <a:xfrm>
            <a:off x="8052840" y="1234440"/>
            <a:ext cx="3474360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Oval 16"/>
          <p:cNvSpPr/>
          <p:nvPr/>
        </p:nvSpPr>
        <p:spPr>
          <a:xfrm>
            <a:off x="8211240" y="1398960"/>
            <a:ext cx="420120" cy="420120"/>
          </a:xfrm>
          <a:prstGeom prst="ellipse">
            <a:avLst/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17"/>
          <p:cNvSpPr/>
          <p:nvPr/>
        </p:nvSpPr>
        <p:spPr>
          <a:xfrm>
            <a:off x="8211240" y="1422000"/>
            <a:ext cx="42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8"/>
          <p:cNvSpPr/>
          <p:nvPr/>
        </p:nvSpPr>
        <p:spPr>
          <a:xfrm>
            <a:off x="8759880" y="1371600"/>
            <a:ext cx="2605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Administrationsmodell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9"/>
          <p:cNvSpPr/>
          <p:nvPr/>
        </p:nvSpPr>
        <p:spPr>
          <a:xfrm>
            <a:off x="8759880" y="1710000"/>
            <a:ext cx="2605680" cy="7631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Der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eigene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Rechner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ist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der Admin-Client. Die Ubuntu-VM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ist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der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Firmenserver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 Die Verwaltung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erfolgt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vollständig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remote per SSH.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20"/>
          <p:cNvSpPr/>
          <p:nvPr/>
        </p:nvSpPr>
        <p:spPr>
          <a:xfrm>
            <a:off x="685800" y="330372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Zielarchitektur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21"/>
          <p:cNvSpPr/>
          <p:nvPr/>
        </p:nvSpPr>
        <p:spPr>
          <a:xfrm>
            <a:off x="777240" y="4053600"/>
            <a:ext cx="2331360" cy="1234080"/>
          </a:xfrm>
          <a:prstGeom prst="roundRect">
            <a:avLst>
              <a:gd name="adj" fmla="val 16667"/>
            </a:avLst>
          </a:prstGeom>
          <a:solidFill>
            <a:srgbClr val="EFF4FA"/>
          </a:solidFill>
          <a:ln w="12700">
            <a:solidFill>
              <a:srgbClr val="C3D2E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2"/>
          <p:cNvSpPr/>
          <p:nvPr/>
        </p:nvSpPr>
        <p:spPr>
          <a:xfrm>
            <a:off x="960120" y="4218120"/>
            <a:ext cx="1965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E7E85"/>
                </a:solidFill>
                <a:effectLst/>
                <a:uFillTx/>
                <a:latin typeface="Aptos"/>
              </a:rPr>
              <a:t>ADMIN-CLIENT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3"/>
          <p:cNvSpPr/>
          <p:nvPr/>
        </p:nvSpPr>
        <p:spPr>
          <a:xfrm>
            <a:off x="960120" y="455652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Git · Dokumentation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Skripte · Screenshots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Chevron 24"/>
          <p:cNvSpPr/>
          <p:nvPr/>
        </p:nvSpPr>
        <p:spPr>
          <a:xfrm>
            <a:off x="3273480" y="4437720"/>
            <a:ext cx="548280" cy="456840"/>
          </a:xfrm>
          <a:prstGeom prst="chevron">
            <a:avLst>
              <a:gd name="adj" fmla="val 50000"/>
            </a:avLst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25"/>
          <p:cNvSpPr/>
          <p:nvPr/>
        </p:nvSpPr>
        <p:spPr>
          <a:xfrm>
            <a:off x="3273480" y="492228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SSH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26"/>
          <p:cNvSpPr/>
          <p:nvPr/>
        </p:nvSpPr>
        <p:spPr>
          <a:xfrm>
            <a:off x="3977640" y="3733560"/>
            <a:ext cx="3748680" cy="1874160"/>
          </a:xfrm>
          <a:prstGeom prst="roundRect">
            <a:avLst>
              <a:gd name="adj" fmla="val 16667"/>
            </a:avLst>
          </a:prstGeom>
          <a:solidFill>
            <a:srgbClr val="F7F3FA"/>
          </a:solidFill>
          <a:ln w="12700">
            <a:solidFill>
              <a:srgbClr val="D6C6E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27"/>
          <p:cNvSpPr/>
          <p:nvPr/>
        </p:nvSpPr>
        <p:spPr>
          <a:xfrm>
            <a:off x="4224600" y="394380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server01  ·  192.168.2.53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8"/>
          <p:cNvSpPr/>
          <p:nvPr/>
        </p:nvSpPr>
        <p:spPr>
          <a:xfrm>
            <a:off x="4358160" y="4401000"/>
            <a:ext cx="2996280" cy="671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r>
              <a:rPr lang="en-US" sz="13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Benutzer &amp; Gruppen   ·   /company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Skripte   ·   Backup   ·   Cron   ·   Logs  </a:t>
            </a:r>
            <a:br>
              <a:rPr sz="1350"/>
            </a:br>
            <a:r>
              <a:rPr lang="en-US" sz="13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 ·   UFW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Chevron 29"/>
          <p:cNvSpPr/>
          <p:nvPr/>
        </p:nvSpPr>
        <p:spPr>
          <a:xfrm>
            <a:off x="7882200" y="4437720"/>
            <a:ext cx="548280" cy="456840"/>
          </a:xfrm>
          <a:prstGeom prst="chevron">
            <a:avLst>
              <a:gd name="adj" fmla="val 50000"/>
            </a:avLst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ounded Rectangle 30"/>
          <p:cNvSpPr/>
          <p:nvPr/>
        </p:nvSpPr>
        <p:spPr>
          <a:xfrm>
            <a:off x="8595360" y="4053600"/>
            <a:ext cx="2788560" cy="1234080"/>
          </a:xfrm>
          <a:prstGeom prst="roundRect">
            <a:avLst>
              <a:gd name="adj" fmla="val 16667"/>
            </a:avLst>
          </a:prstGeom>
          <a:solidFill>
            <a:srgbClr val="F1F8F4"/>
          </a:solidFill>
          <a:ln w="12700">
            <a:solidFill>
              <a:srgbClr val="C3DC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31"/>
          <p:cNvSpPr/>
          <p:nvPr/>
        </p:nvSpPr>
        <p:spPr>
          <a:xfrm>
            <a:off x="8823960" y="421812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E7D4E"/>
                </a:solidFill>
                <a:effectLst/>
                <a:uFillTx/>
                <a:latin typeface="Aptos"/>
              </a:rPr>
              <a:t>BETRIEBSBEREIT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32"/>
          <p:cNvSpPr/>
          <p:nvPr/>
        </p:nvSpPr>
        <p:spPr>
          <a:xfrm>
            <a:off x="8823960" y="455652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sicher · automatisiert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getestet · dokumentiert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33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34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35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2. Systemaufbau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Virtuelle Serverumgebung als reproduzierbares Projektsetup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INFRASTRUKTUR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5"/>
          <p:cNvSpPr/>
          <p:nvPr/>
        </p:nvSpPr>
        <p:spPr>
          <a:xfrm>
            <a:off x="640080" y="1234440"/>
            <a:ext cx="6491880" cy="452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9" name="Picture 6" descr="07.png"/>
          <p:cNvPicPr/>
          <p:nvPr/>
        </p:nvPicPr>
        <p:blipFill>
          <a:blip r:embed="rId2"/>
          <a:stretch/>
        </p:blipFill>
        <p:spPr>
          <a:xfrm>
            <a:off x="640080" y="1774800"/>
            <a:ext cx="6491880" cy="344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7"/>
          <p:cNvSpPr/>
          <p:nvPr/>
        </p:nvSpPr>
        <p:spPr>
          <a:xfrm>
            <a:off x="685800" y="5806440"/>
            <a:ext cx="6400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VirtualBox: VM „ubuntu-firmenserver“ mit 4 CPUs, ca. 5,2 GB RAM und 50 GB Speicher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8"/>
          <p:cNvSpPr/>
          <p:nvPr/>
        </p:nvSpPr>
        <p:spPr>
          <a:xfrm>
            <a:off x="7498080" y="1325880"/>
            <a:ext cx="38858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9"/>
          <p:cNvSpPr/>
          <p:nvPr/>
        </p:nvSpPr>
        <p:spPr>
          <a:xfrm>
            <a:off x="7680960" y="145404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VM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8641080" y="142632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ubuntu-firmenserver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1"/>
          <p:cNvSpPr/>
          <p:nvPr/>
        </p:nvSpPr>
        <p:spPr>
          <a:xfrm>
            <a:off x="7498080" y="2112120"/>
            <a:ext cx="38858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2"/>
          <p:cNvSpPr/>
          <p:nvPr/>
        </p:nvSpPr>
        <p:spPr>
          <a:xfrm>
            <a:off x="7680960" y="224028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Hostname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3"/>
          <p:cNvSpPr/>
          <p:nvPr/>
        </p:nvSpPr>
        <p:spPr>
          <a:xfrm>
            <a:off x="8641080" y="221292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server01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14"/>
          <p:cNvSpPr/>
          <p:nvPr/>
        </p:nvSpPr>
        <p:spPr>
          <a:xfrm>
            <a:off x="7498080" y="2898720"/>
            <a:ext cx="38858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15"/>
          <p:cNvSpPr/>
          <p:nvPr/>
        </p:nvSpPr>
        <p:spPr>
          <a:xfrm>
            <a:off x="7680960" y="30265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CPU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6"/>
          <p:cNvSpPr/>
          <p:nvPr/>
        </p:nvSpPr>
        <p:spPr>
          <a:xfrm>
            <a:off x="8641080" y="299916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4 Prozessoren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17"/>
          <p:cNvSpPr/>
          <p:nvPr/>
        </p:nvSpPr>
        <p:spPr>
          <a:xfrm>
            <a:off x="7498080" y="3684960"/>
            <a:ext cx="38858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8"/>
          <p:cNvSpPr/>
          <p:nvPr/>
        </p:nvSpPr>
        <p:spPr>
          <a:xfrm>
            <a:off x="7680960" y="381312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RAM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9"/>
          <p:cNvSpPr/>
          <p:nvPr/>
        </p:nvSpPr>
        <p:spPr>
          <a:xfrm>
            <a:off x="8641080" y="378576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ca. 5,2 GB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20"/>
          <p:cNvSpPr/>
          <p:nvPr/>
        </p:nvSpPr>
        <p:spPr>
          <a:xfrm>
            <a:off x="7498080" y="4471560"/>
            <a:ext cx="3885840" cy="658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21"/>
          <p:cNvSpPr/>
          <p:nvPr/>
        </p:nvSpPr>
        <p:spPr>
          <a:xfrm>
            <a:off x="7680960" y="4599360"/>
            <a:ext cx="9140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Disk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2"/>
          <p:cNvSpPr/>
          <p:nvPr/>
        </p:nvSpPr>
        <p:spPr>
          <a:xfrm>
            <a:off x="8641080" y="457200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50 GB SATA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3"/>
          <p:cNvSpPr/>
          <p:nvPr/>
        </p:nvSpPr>
        <p:spPr>
          <a:xfrm>
            <a:off x="7498080" y="53949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Grundprinzip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4"/>
          <p:cNvSpPr/>
          <p:nvPr/>
        </p:nvSpPr>
        <p:spPr>
          <a:xfrm>
            <a:off x="7498080" y="566928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Die Administration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wird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nicht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lokal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an der VM „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durchgeklickt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“,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sondern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als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echter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Remote-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Ablauf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über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den Admin-Client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durchgeführt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25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26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 dirty="0">
                <a:solidFill>
                  <a:srgbClr val="646C7A"/>
                </a:solidFill>
                <a:effectLst/>
                <a:uFillTx/>
                <a:latin typeface="Aptos"/>
              </a:rPr>
              <a:t>IHK </a:t>
            </a:r>
            <a:r>
              <a:rPr lang="en-US" sz="850" b="0" u="none" strike="noStrike" dirty="0" err="1">
                <a:solidFill>
                  <a:srgbClr val="646C7A"/>
                </a:solidFill>
                <a:effectLst/>
                <a:uFillTx/>
                <a:latin typeface="Aptos"/>
              </a:rPr>
              <a:t>Abschlussprojekt</a:t>
            </a:r>
            <a:r>
              <a:rPr lang="en-US" sz="850" b="0" u="none" strike="noStrike" dirty="0">
                <a:solidFill>
                  <a:srgbClr val="646C7A"/>
                </a:solidFill>
                <a:effectLst/>
                <a:uFillTx/>
                <a:latin typeface="Aptos"/>
              </a:rPr>
              <a:t> · Linux-</a:t>
            </a:r>
            <a:r>
              <a:rPr lang="en-US" sz="850" b="0" u="none" strike="noStrike" dirty="0" err="1">
                <a:solidFill>
                  <a:srgbClr val="646C7A"/>
                </a:solidFill>
                <a:effectLst/>
                <a:uFillTx/>
                <a:latin typeface="Aptos"/>
              </a:rPr>
              <a:t>Systemadministration</a:t>
            </a:r>
            <a:r>
              <a:rPr lang="en-US" sz="850" b="0" u="none" strike="noStrike" dirty="0">
                <a:solidFill>
                  <a:srgbClr val="646C7A"/>
                </a:solidFill>
                <a:effectLst/>
                <a:uFillTx/>
                <a:latin typeface="Aptos"/>
              </a:rPr>
              <a:t> · 29.09.2026</a:t>
            </a:r>
            <a:endParaRPr lang="en-US" sz="8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7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3. Netzwerk und sicherer SSH-Zugriff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Von NAT zur Netzwerkbrücke – direkte Erreichbarkeit im LAN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ZUGRIFF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5"/>
          <p:cNvSpPr/>
          <p:nvPr/>
        </p:nvSpPr>
        <p:spPr>
          <a:xfrm>
            <a:off x="640080" y="1234440"/>
            <a:ext cx="379440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6" name="Picture 6" descr="12.png"/>
          <p:cNvPicPr/>
          <p:nvPr/>
        </p:nvPicPr>
        <p:blipFill>
          <a:blip r:embed="rId2"/>
          <a:stretch/>
        </p:blipFill>
        <p:spPr>
          <a:xfrm>
            <a:off x="640080" y="1237680"/>
            <a:ext cx="3794400" cy="214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Box 7"/>
          <p:cNvSpPr/>
          <p:nvPr/>
        </p:nvSpPr>
        <p:spPr>
          <a:xfrm>
            <a:off x="713160" y="343800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VirtualBox: Netzwerkadapter auf „Netzwerkbrücke“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8"/>
          <p:cNvSpPr/>
          <p:nvPr/>
        </p:nvSpPr>
        <p:spPr>
          <a:xfrm>
            <a:off x="4709160" y="1234440"/>
            <a:ext cx="361152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9" descr="13.png"/>
          <p:cNvPicPr/>
          <p:nvPr/>
        </p:nvPicPr>
        <p:blipFill>
          <a:blip r:embed="rId3"/>
          <a:stretch/>
        </p:blipFill>
        <p:spPr>
          <a:xfrm>
            <a:off x="4709160" y="1816920"/>
            <a:ext cx="3611520" cy="98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10"/>
          <p:cNvSpPr/>
          <p:nvPr/>
        </p:nvSpPr>
        <p:spPr>
          <a:xfrm>
            <a:off x="4800600" y="3438000"/>
            <a:ext cx="3428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ip a: 192.168.2.53 auf enp0s3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11"/>
          <p:cNvSpPr/>
          <p:nvPr/>
        </p:nvSpPr>
        <p:spPr>
          <a:xfrm>
            <a:off x="8595360" y="1234440"/>
            <a:ext cx="288000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2" name="Picture 12" descr="15.png"/>
          <p:cNvPicPr/>
          <p:nvPr/>
        </p:nvPicPr>
        <p:blipFill>
          <a:blip r:embed="rId4"/>
          <a:stretch/>
        </p:blipFill>
        <p:spPr>
          <a:xfrm>
            <a:off x="8595360" y="1860480"/>
            <a:ext cx="2880000" cy="89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TextBox 13"/>
          <p:cNvSpPr/>
          <p:nvPr/>
        </p:nvSpPr>
        <p:spPr>
          <a:xfrm>
            <a:off x="8686800" y="3438000"/>
            <a:ext cx="2697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Ping-Test: 0 % Paketverlust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14"/>
          <p:cNvSpPr/>
          <p:nvPr/>
        </p:nvSpPr>
        <p:spPr>
          <a:xfrm>
            <a:off x="685800" y="4069080"/>
            <a:ext cx="10835280" cy="1645920"/>
          </a:xfrm>
          <a:prstGeom prst="roundRect">
            <a:avLst>
              <a:gd name="adj" fmla="val 16667"/>
            </a:avLst>
          </a:prstGeom>
          <a:solidFill>
            <a:srgbClr val="F6F7FA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15"/>
          <p:cNvSpPr/>
          <p:nvPr/>
        </p:nvSpPr>
        <p:spPr>
          <a:xfrm>
            <a:off x="914400" y="429768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Ablauf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16"/>
          <p:cNvSpPr/>
          <p:nvPr/>
        </p:nvSpPr>
        <p:spPr>
          <a:xfrm>
            <a:off x="1737360" y="4224600"/>
            <a:ext cx="1416960" cy="310680"/>
          </a:xfrm>
          <a:prstGeom prst="roundRect">
            <a:avLst>
              <a:gd name="adj" fmla="val 16667"/>
            </a:avLst>
          </a:prstGeom>
          <a:solidFill>
            <a:srgbClr val="F5F0FA"/>
          </a:solidFill>
          <a:ln w="12700">
            <a:solidFill>
              <a:srgbClr val="DCD0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17"/>
          <p:cNvSpPr/>
          <p:nvPr/>
        </p:nvSpPr>
        <p:spPr>
          <a:xfrm>
            <a:off x="1783080" y="4265640"/>
            <a:ext cx="1325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1E7E85"/>
                </a:solidFill>
                <a:effectLst/>
                <a:uFillTx/>
                <a:latin typeface="Aptos"/>
              </a:rPr>
              <a:t>Admin-Client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Chevron 18"/>
          <p:cNvSpPr/>
          <p:nvPr/>
        </p:nvSpPr>
        <p:spPr>
          <a:xfrm>
            <a:off x="3273480" y="4160520"/>
            <a:ext cx="411120" cy="456840"/>
          </a:xfrm>
          <a:prstGeom prst="chevron">
            <a:avLst>
              <a:gd name="adj" fmla="val 50000"/>
            </a:avLst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19"/>
          <p:cNvSpPr/>
          <p:nvPr/>
        </p:nvSpPr>
        <p:spPr>
          <a:xfrm>
            <a:off x="3822120" y="4224600"/>
            <a:ext cx="1599840" cy="310680"/>
          </a:xfrm>
          <a:prstGeom prst="roundRect">
            <a:avLst>
              <a:gd name="adj" fmla="val 16667"/>
            </a:avLst>
          </a:prstGeom>
          <a:solidFill>
            <a:srgbClr val="F5F0FA"/>
          </a:solidFill>
          <a:ln w="12700">
            <a:solidFill>
              <a:srgbClr val="DCD0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0"/>
          <p:cNvSpPr/>
          <p:nvPr/>
        </p:nvSpPr>
        <p:spPr>
          <a:xfrm>
            <a:off x="3867840" y="4265640"/>
            <a:ext cx="1508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SSH / Port 22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Chevron 21"/>
          <p:cNvSpPr/>
          <p:nvPr/>
        </p:nvSpPr>
        <p:spPr>
          <a:xfrm>
            <a:off x="5559480" y="4160520"/>
            <a:ext cx="411120" cy="456840"/>
          </a:xfrm>
          <a:prstGeom prst="chevron">
            <a:avLst>
              <a:gd name="adj" fmla="val 50000"/>
            </a:avLst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ounded Rectangle 22"/>
          <p:cNvSpPr/>
          <p:nvPr/>
        </p:nvSpPr>
        <p:spPr>
          <a:xfrm>
            <a:off x="6108120" y="4224600"/>
            <a:ext cx="1234080" cy="310680"/>
          </a:xfrm>
          <a:prstGeom prst="roundRect">
            <a:avLst>
              <a:gd name="adj" fmla="val 16667"/>
            </a:avLst>
          </a:prstGeom>
          <a:solidFill>
            <a:srgbClr val="F5F0FA"/>
          </a:solidFill>
          <a:ln w="12700">
            <a:solidFill>
              <a:srgbClr val="DCD0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23"/>
          <p:cNvSpPr/>
          <p:nvPr/>
        </p:nvSpPr>
        <p:spPr>
          <a:xfrm>
            <a:off x="6153840" y="426564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server01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Chevron 24"/>
          <p:cNvSpPr/>
          <p:nvPr/>
        </p:nvSpPr>
        <p:spPr>
          <a:xfrm>
            <a:off x="7516440" y="4160520"/>
            <a:ext cx="411120" cy="456840"/>
          </a:xfrm>
          <a:prstGeom prst="chevron">
            <a:avLst>
              <a:gd name="adj" fmla="val 50000"/>
            </a:avLst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ounded Rectangle 25"/>
          <p:cNvSpPr/>
          <p:nvPr/>
        </p:nvSpPr>
        <p:spPr>
          <a:xfrm>
            <a:off x="8046720" y="4224600"/>
            <a:ext cx="1599840" cy="310680"/>
          </a:xfrm>
          <a:prstGeom prst="roundRect">
            <a:avLst>
              <a:gd name="adj" fmla="val 16667"/>
            </a:avLst>
          </a:prstGeom>
          <a:solidFill>
            <a:srgbClr val="F5F0FA"/>
          </a:solidFill>
          <a:ln w="12700">
            <a:solidFill>
              <a:srgbClr val="DCD0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26"/>
          <p:cNvSpPr/>
          <p:nvPr/>
        </p:nvSpPr>
        <p:spPr>
          <a:xfrm>
            <a:off x="8092440" y="4265640"/>
            <a:ext cx="15084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1E7E85"/>
                </a:solidFill>
                <a:effectLst/>
                <a:uFillTx/>
                <a:latin typeface="Aptos"/>
              </a:rPr>
              <a:t>Admin-Aufgaben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27"/>
          <p:cNvSpPr/>
          <p:nvPr/>
        </p:nvSpPr>
        <p:spPr>
          <a:xfrm>
            <a:off x="914400" y="4919400"/>
            <a:ext cx="9966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Zusätzlich wurde ein Ed25519-Schlüsselpaar eingerichtet; der öffentliche Schlüssel liegt in ~/.ssh/authorized_keys.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28"/>
          <p:cNvSpPr/>
          <p:nvPr/>
        </p:nvSpPr>
        <p:spPr>
          <a:xfrm>
            <a:off x="914400" y="5285160"/>
            <a:ext cx="9966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Sicherheitsaspekt: PermitRootLogin prohibit-password verhindert direkten Root-Login per Passwort.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29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30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31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4. Benutzer- und Gruppenkonzept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Datengetriebene und idempotente Anlage statt manueller Einzelkonfiguration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IDENTITÄTEN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5"/>
          <p:cNvSpPr/>
          <p:nvPr/>
        </p:nvSpPr>
        <p:spPr>
          <a:xfrm>
            <a:off x="640080" y="1234440"/>
            <a:ext cx="56232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7" name="Picture 6" descr="slide_7.png"/>
          <p:cNvPicPr/>
          <p:nvPr/>
        </p:nvPicPr>
        <p:blipFill>
          <a:blip r:embed="rId2"/>
          <a:stretch/>
        </p:blipFill>
        <p:spPr>
          <a:xfrm>
            <a:off x="695520" y="1234440"/>
            <a:ext cx="551196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Box 7"/>
          <p:cNvSpPr/>
          <p:nvPr/>
        </p:nvSpPr>
        <p:spPr>
          <a:xfrm>
            <a:off x="685800" y="541332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Nachweis: setup-users.sh legt Gruppen und Benutzer an und protokolliert die Aktionen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8"/>
          <p:cNvSpPr/>
          <p:nvPr/>
        </p:nvSpPr>
        <p:spPr>
          <a:xfrm>
            <a:off x="6629400" y="13258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Datenbasis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9"/>
          <p:cNvSpPr/>
          <p:nvPr/>
        </p:nvSpPr>
        <p:spPr>
          <a:xfrm>
            <a:off x="6629400" y="1737360"/>
            <a:ext cx="1508400" cy="310680"/>
          </a:xfrm>
          <a:prstGeom prst="roundRect">
            <a:avLst>
              <a:gd name="adj" fmla="val 16667"/>
            </a:avLst>
          </a:prstGeom>
          <a:solidFill>
            <a:srgbClr val="F5F0FA"/>
          </a:solidFill>
          <a:ln w="12700">
            <a:solidFill>
              <a:srgbClr val="DCD0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6675120" y="177840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groups.csv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11"/>
          <p:cNvSpPr/>
          <p:nvPr/>
        </p:nvSpPr>
        <p:spPr>
          <a:xfrm>
            <a:off x="8275320" y="1737360"/>
            <a:ext cx="1416960" cy="310680"/>
          </a:xfrm>
          <a:prstGeom prst="roundRect">
            <a:avLst>
              <a:gd name="adj" fmla="val 16667"/>
            </a:avLst>
          </a:prstGeom>
          <a:solidFill>
            <a:srgbClr val="F5F0FA"/>
          </a:solidFill>
          <a:ln w="12700">
            <a:solidFill>
              <a:srgbClr val="DCD0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12"/>
          <p:cNvSpPr/>
          <p:nvPr/>
        </p:nvSpPr>
        <p:spPr>
          <a:xfrm>
            <a:off x="8321040" y="1778400"/>
            <a:ext cx="13255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1E7E85"/>
                </a:solidFill>
                <a:effectLst/>
                <a:uFillTx/>
                <a:latin typeface="Aptos"/>
              </a:rPr>
              <a:t>users.csv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3"/>
          <p:cNvSpPr/>
          <p:nvPr/>
        </p:nvSpPr>
        <p:spPr>
          <a:xfrm>
            <a:off x="6583680" y="2240280"/>
            <a:ext cx="4800240" cy="251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5 Abteilungsgruppen: it, sales, accounting, management, employees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7 Benutzerkonten mit primärer und zusätzlicher Gruppe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setup-users.sh prüft vorab mit getent group bzw. id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Bestehende Konten werden nicht erneut angelegt oder verändert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3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Aktionen werden unter /var/log/company-admin/setup-users.log protokolliert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14"/>
          <p:cNvSpPr/>
          <p:nvPr/>
        </p:nvSpPr>
        <p:spPr>
          <a:xfrm>
            <a:off x="6629400" y="4956120"/>
            <a:ext cx="4663080" cy="438480"/>
          </a:xfrm>
          <a:prstGeom prst="roundRect">
            <a:avLst>
              <a:gd name="adj" fmla="val 16667"/>
            </a:avLst>
          </a:prstGeom>
          <a:solidFill>
            <a:srgbClr val="161F35"/>
          </a:solidFill>
          <a:ln w="12700">
            <a:solidFill>
              <a:srgbClr val="161F3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5"/>
          <p:cNvSpPr/>
          <p:nvPr/>
        </p:nvSpPr>
        <p:spPr>
          <a:xfrm>
            <a:off x="6748200" y="5029200"/>
            <a:ext cx="44254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FFFFFF"/>
                </a:solidFill>
                <a:effectLst/>
                <a:uFillTx/>
                <a:latin typeface="Cascadia Mono"/>
              </a:rPr>
              <a:t>sudo /opt/company/scripts/setup-users.sh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6"/>
          <p:cNvSpPr/>
          <p:nvPr/>
        </p:nvSpPr>
        <p:spPr>
          <a:xfrm>
            <a:off x="6629400" y="548640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E7D4E"/>
                </a:solidFill>
                <a:effectLst/>
                <a:uFillTx/>
                <a:latin typeface="Aptos"/>
              </a:rPr>
              <a:t>Ergebnis: alle erwarteten Konten und Gruppenzuordnungen vorhanden.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7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18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9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5. Firmenordner und Rechtekonzept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Zugriff wird über Abteilungsgruppen und bewusst gewählte UNIX-Rechte gesteuert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BERECHTIGUNGEN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5"/>
          <p:cNvSpPr/>
          <p:nvPr/>
        </p:nvSpPr>
        <p:spPr>
          <a:xfrm>
            <a:off x="640080" y="1234440"/>
            <a:ext cx="5714640" cy="297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6" name="Picture 6" descr="slide_3.png"/>
          <p:cNvPicPr/>
          <p:nvPr/>
        </p:nvPicPr>
        <p:blipFill>
          <a:blip r:embed="rId2"/>
          <a:stretch/>
        </p:blipFill>
        <p:spPr>
          <a:xfrm>
            <a:off x="1326960" y="1234440"/>
            <a:ext cx="4340880" cy="29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TextBox 7"/>
          <p:cNvSpPr/>
          <p:nvPr/>
        </p:nvSpPr>
        <p:spPr>
          <a:xfrm>
            <a:off x="685800" y="4279320"/>
            <a:ext cx="5577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Nachweis: /company mit Abteilungsordnern und gesetzten Berechtigungen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8"/>
          <p:cNvSpPr/>
          <p:nvPr/>
        </p:nvSpPr>
        <p:spPr>
          <a:xfrm>
            <a:off x="6675120" y="12344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Rechteprinzip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9"/>
          <p:cNvSpPr/>
          <p:nvPr/>
        </p:nvSpPr>
        <p:spPr>
          <a:xfrm>
            <a:off x="6629400" y="1754676"/>
            <a:ext cx="1234080" cy="339768"/>
          </a:xfrm>
          <a:prstGeom prst="rect">
            <a:avLst/>
          </a:prstGeom>
          <a:solidFill>
            <a:srgbClr val="161F35"/>
          </a:solidFill>
          <a:ln w="12700">
            <a:solidFill>
              <a:srgbClr val="161F3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10"/>
          <p:cNvSpPr/>
          <p:nvPr/>
        </p:nvSpPr>
        <p:spPr>
          <a:xfrm>
            <a:off x="6675120" y="1810440"/>
            <a:ext cx="11426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Ordner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11"/>
          <p:cNvSpPr/>
          <p:nvPr/>
        </p:nvSpPr>
        <p:spPr>
          <a:xfrm>
            <a:off x="7909560" y="1719000"/>
            <a:ext cx="2057040" cy="411120"/>
          </a:xfrm>
          <a:prstGeom prst="rect">
            <a:avLst/>
          </a:prstGeom>
          <a:solidFill>
            <a:srgbClr val="161F35"/>
          </a:solidFill>
          <a:ln w="12700">
            <a:solidFill>
              <a:srgbClr val="161F3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2"/>
          <p:cNvSpPr/>
          <p:nvPr/>
        </p:nvSpPr>
        <p:spPr>
          <a:xfrm>
            <a:off x="7955280" y="1810440"/>
            <a:ext cx="19656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Besitzer / Gruppe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13"/>
          <p:cNvSpPr/>
          <p:nvPr/>
        </p:nvSpPr>
        <p:spPr>
          <a:xfrm>
            <a:off x="10058400" y="1719000"/>
            <a:ext cx="1051200" cy="411120"/>
          </a:xfrm>
          <a:prstGeom prst="rect">
            <a:avLst/>
          </a:prstGeom>
          <a:solidFill>
            <a:srgbClr val="161F35"/>
          </a:solidFill>
          <a:ln w="12700">
            <a:solidFill>
              <a:srgbClr val="161F3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4"/>
          <p:cNvSpPr/>
          <p:nvPr/>
        </p:nvSpPr>
        <p:spPr>
          <a:xfrm>
            <a:off x="10104120" y="1810440"/>
            <a:ext cx="959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Rechte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15"/>
          <p:cNvSpPr/>
          <p:nvPr/>
        </p:nvSpPr>
        <p:spPr>
          <a:xfrm>
            <a:off x="6629400" y="2130480"/>
            <a:ext cx="123408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16"/>
          <p:cNvSpPr/>
          <p:nvPr/>
        </p:nvSpPr>
        <p:spPr>
          <a:xfrm>
            <a:off x="6666120" y="2240280"/>
            <a:ext cx="1161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/company/it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17"/>
          <p:cNvSpPr/>
          <p:nvPr/>
        </p:nvSpPr>
        <p:spPr>
          <a:xfrm>
            <a:off x="7909560" y="2130480"/>
            <a:ext cx="20570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8"/>
          <p:cNvSpPr/>
          <p:nvPr/>
        </p:nvSpPr>
        <p:spPr>
          <a:xfrm>
            <a:off x="7946280" y="2240280"/>
            <a:ext cx="198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root : 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19"/>
          <p:cNvSpPr/>
          <p:nvPr/>
        </p:nvSpPr>
        <p:spPr>
          <a:xfrm>
            <a:off x="10058400" y="2130480"/>
            <a:ext cx="105120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20"/>
          <p:cNvSpPr/>
          <p:nvPr/>
        </p:nvSpPr>
        <p:spPr>
          <a:xfrm>
            <a:off x="10095120" y="2240280"/>
            <a:ext cx="978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770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21"/>
          <p:cNvSpPr/>
          <p:nvPr/>
        </p:nvSpPr>
        <p:spPr>
          <a:xfrm>
            <a:off x="6629400" y="2569320"/>
            <a:ext cx="123408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22"/>
          <p:cNvSpPr/>
          <p:nvPr/>
        </p:nvSpPr>
        <p:spPr>
          <a:xfrm>
            <a:off x="6666120" y="2679120"/>
            <a:ext cx="1161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/company/sales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23"/>
          <p:cNvSpPr/>
          <p:nvPr/>
        </p:nvSpPr>
        <p:spPr>
          <a:xfrm>
            <a:off x="7909560" y="2569320"/>
            <a:ext cx="20570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24"/>
          <p:cNvSpPr/>
          <p:nvPr/>
        </p:nvSpPr>
        <p:spPr>
          <a:xfrm>
            <a:off x="7946280" y="2679120"/>
            <a:ext cx="198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root : sales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25"/>
          <p:cNvSpPr/>
          <p:nvPr/>
        </p:nvSpPr>
        <p:spPr>
          <a:xfrm>
            <a:off x="10058400" y="2569320"/>
            <a:ext cx="105120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26"/>
          <p:cNvSpPr/>
          <p:nvPr/>
        </p:nvSpPr>
        <p:spPr>
          <a:xfrm>
            <a:off x="10095120" y="2679120"/>
            <a:ext cx="978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770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27"/>
          <p:cNvSpPr/>
          <p:nvPr/>
        </p:nvSpPr>
        <p:spPr>
          <a:xfrm>
            <a:off x="6629400" y="3008520"/>
            <a:ext cx="123408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28"/>
          <p:cNvSpPr/>
          <p:nvPr/>
        </p:nvSpPr>
        <p:spPr>
          <a:xfrm>
            <a:off x="6666120" y="3117960"/>
            <a:ext cx="1161000" cy="3476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/company/accounting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29"/>
          <p:cNvSpPr/>
          <p:nvPr/>
        </p:nvSpPr>
        <p:spPr>
          <a:xfrm>
            <a:off x="7909560" y="3008520"/>
            <a:ext cx="20570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30"/>
          <p:cNvSpPr/>
          <p:nvPr/>
        </p:nvSpPr>
        <p:spPr>
          <a:xfrm>
            <a:off x="7946280" y="3117960"/>
            <a:ext cx="198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root : accounting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31"/>
          <p:cNvSpPr/>
          <p:nvPr/>
        </p:nvSpPr>
        <p:spPr>
          <a:xfrm>
            <a:off x="10058400" y="3008520"/>
            <a:ext cx="105120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32"/>
          <p:cNvSpPr/>
          <p:nvPr/>
        </p:nvSpPr>
        <p:spPr>
          <a:xfrm>
            <a:off x="10095120" y="3117960"/>
            <a:ext cx="978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770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33"/>
          <p:cNvSpPr/>
          <p:nvPr/>
        </p:nvSpPr>
        <p:spPr>
          <a:xfrm>
            <a:off x="6629400" y="3447360"/>
            <a:ext cx="123408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34"/>
          <p:cNvSpPr/>
          <p:nvPr/>
        </p:nvSpPr>
        <p:spPr>
          <a:xfrm>
            <a:off x="6666120" y="3557160"/>
            <a:ext cx="1161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/company/management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35"/>
          <p:cNvSpPr/>
          <p:nvPr/>
        </p:nvSpPr>
        <p:spPr>
          <a:xfrm>
            <a:off x="7909560" y="3447360"/>
            <a:ext cx="20570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36"/>
          <p:cNvSpPr/>
          <p:nvPr/>
        </p:nvSpPr>
        <p:spPr>
          <a:xfrm>
            <a:off x="7946280" y="3557160"/>
            <a:ext cx="198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root : management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37"/>
          <p:cNvSpPr/>
          <p:nvPr/>
        </p:nvSpPr>
        <p:spPr>
          <a:xfrm>
            <a:off x="10058400" y="3447360"/>
            <a:ext cx="105120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38"/>
          <p:cNvSpPr/>
          <p:nvPr/>
        </p:nvSpPr>
        <p:spPr>
          <a:xfrm>
            <a:off x="10095120" y="3557160"/>
            <a:ext cx="978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770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39"/>
          <p:cNvSpPr/>
          <p:nvPr/>
        </p:nvSpPr>
        <p:spPr>
          <a:xfrm>
            <a:off x="6629400" y="3886200"/>
            <a:ext cx="123408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40"/>
          <p:cNvSpPr/>
          <p:nvPr/>
        </p:nvSpPr>
        <p:spPr>
          <a:xfrm>
            <a:off x="6666120" y="3996000"/>
            <a:ext cx="1161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/company/public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41"/>
          <p:cNvSpPr/>
          <p:nvPr/>
        </p:nvSpPr>
        <p:spPr>
          <a:xfrm>
            <a:off x="7909560" y="3886200"/>
            <a:ext cx="20570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42"/>
          <p:cNvSpPr/>
          <p:nvPr/>
        </p:nvSpPr>
        <p:spPr>
          <a:xfrm>
            <a:off x="7946280" y="3996000"/>
            <a:ext cx="1983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root : employees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43"/>
          <p:cNvSpPr/>
          <p:nvPr/>
        </p:nvSpPr>
        <p:spPr>
          <a:xfrm>
            <a:off x="10058400" y="3886200"/>
            <a:ext cx="105120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44"/>
          <p:cNvSpPr/>
          <p:nvPr/>
        </p:nvSpPr>
        <p:spPr>
          <a:xfrm>
            <a:off x="10095120" y="3996000"/>
            <a:ext cx="978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775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ounded Rectangle 45"/>
          <p:cNvSpPr/>
          <p:nvPr/>
        </p:nvSpPr>
        <p:spPr>
          <a:xfrm>
            <a:off x="6629400" y="4526280"/>
            <a:ext cx="5031658" cy="1023840"/>
          </a:xfrm>
          <a:prstGeom prst="roundRect">
            <a:avLst>
              <a:gd name="adj" fmla="val 16667"/>
            </a:avLst>
          </a:prstGeom>
          <a:solidFill>
            <a:srgbClr val="F1F8F4"/>
          </a:solidFill>
          <a:ln w="12700">
            <a:solidFill>
              <a:srgbClr val="C3DC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46"/>
          <p:cNvSpPr/>
          <p:nvPr/>
        </p:nvSpPr>
        <p:spPr>
          <a:xfrm>
            <a:off x="6812280" y="4681800"/>
            <a:ext cx="1142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E7D4E"/>
                </a:solidFill>
                <a:effectLst/>
                <a:uFillTx/>
                <a:latin typeface="Aptos"/>
              </a:rPr>
              <a:t>Zugriffstest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47"/>
          <p:cNvSpPr/>
          <p:nvPr/>
        </p:nvSpPr>
        <p:spPr>
          <a:xfrm>
            <a:off x="7863840" y="4590360"/>
            <a:ext cx="32457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r>
              <a:rPr lang="en-US" sz="11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sales01 → /company/sales  ✓  schreiben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sales01 → /company/accounting  ✕  Permission denied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48"/>
          <p:cNvSpPr/>
          <p:nvPr/>
        </p:nvSpPr>
        <p:spPr>
          <a:xfrm>
            <a:off x="6629400" y="574236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8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Damit wird die technische Rechtevergabe am fachlichen Bedarf ausgerichtet.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49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50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51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6. Admin-Fälle 1–3: Rechte prüfen und Änderungen sicher ausrollen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3"/>
          <p:cNvSpPr/>
          <p:nvPr/>
        </p:nvSpPr>
        <p:spPr>
          <a:xfrm>
            <a:off x="621720" y="134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Fehleranalyse mit konkreten Tests statt Annahmen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4"/>
          <p:cNvSpPr/>
          <p:nvPr/>
        </p:nvSpPr>
        <p:spPr>
          <a:xfrm>
            <a:off x="10058400" y="2282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 dirty="0">
                <a:solidFill>
                  <a:srgbClr val="683D91"/>
                </a:solidFill>
                <a:effectLst/>
                <a:uFillTx/>
                <a:latin typeface="Aptos"/>
              </a:rPr>
              <a:t>FEHLERFÄLLE</a:t>
            </a:r>
            <a:endParaRPr lang="en-US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5"/>
          <p:cNvSpPr/>
          <p:nvPr/>
        </p:nvSpPr>
        <p:spPr>
          <a:xfrm>
            <a:off x="640080" y="1784160"/>
            <a:ext cx="3520080" cy="1644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Oval 6"/>
          <p:cNvSpPr/>
          <p:nvPr/>
        </p:nvSpPr>
        <p:spPr>
          <a:xfrm>
            <a:off x="804600" y="1948680"/>
            <a:ext cx="420120" cy="420120"/>
          </a:xfrm>
          <a:prstGeom prst="ellipse">
            <a:avLst/>
          </a:prstGeom>
          <a:solidFill>
            <a:srgbClr val="1E7E8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7"/>
          <p:cNvSpPr/>
          <p:nvPr/>
        </p:nvSpPr>
        <p:spPr>
          <a:xfrm>
            <a:off x="804600" y="1971720"/>
            <a:ext cx="42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8"/>
          <p:cNvSpPr/>
          <p:nvPr/>
        </p:nvSpPr>
        <p:spPr>
          <a:xfrm>
            <a:off x="1353240" y="192132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sales01 kann nicht schreiben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9"/>
          <p:cNvSpPr/>
          <p:nvPr/>
        </p:nvSpPr>
        <p:spPr>
          <a:xfrm>
            <a:off x="1353240" y="2439720"/>
            <a:ext cx="2651400" cy="586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id sales01 + ls -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ld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/company/sales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geprüft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 Gruppe sales und 770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waren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korrekt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Schreibtest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erfolgreich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10"/>
          <p:cNvSpPr/>
          <p:nvPr/>
        </p:nvSpPr>
        <p:spPr>
          <a:xfrm>
            <a:off x="4343400" y="1784160"/>
            <a:ext cx="3520080" cy="1644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Oval 11"/>
          <p:cNvSpPr/>
          <p:nvPr/>
        </p:nvSpPr>
        <p:spPr>
          <a:xfrm>
            <a:off x="4507920" y="1948680"/>
            <a:ext cx="420120" cy="420120"/>
          </a:xfrm>
          <a:prstGeom prst="ellipse">
            <a:avLst/>
          </a:prstGeom>
          <a:solidFill>
            <a:srgbClr val="2E7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12"/>
          <p:cNvSpPr/>
          <p:nvPr/>
        </p:nvSpPr>
        <p:spPr>
          <a:xfrm>
            <a:off x="4507920" y="1971720"/>
            <a:ext cx="42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3"/>
          <p:cNvSpPr/>
          <p:nvPr/>
        </p:nvSpPr>
        <p:spPr>
          <a:xfrm>
            <a:off x="5056560" y="192132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sales01 kann accounting lesen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4"/>
          <p:cNvSpPr/>
          <p:nvPr/>
        </p:nvSpPr>
        <p:spPr>
          <a:xfrm>
            <a:off x="5056560" y="2439720"/>
            <a:ext cx="2651400" cy="7631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Zugriff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mit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sudo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-u sales01 ls /company/accounting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getestet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Ergebnis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: Permission denied. Keine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Mitgliedschaft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in accounting.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ounded Rectangle 15"/>
          <p:cNvSpPr/>
          <p:nvPr/>
        </p:nvSpPr>
        <p:spPr>
          <a:xfrm>
            <a:off x="8046720" y="1784160"/>
            <a:ext cx="3520080" cy="1644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Oval 16"/>
          <p:cNvSpPr/>
          <p:nvPr/>
        </p:nvSpPr>
        <p:spPr>
          <a:xfrm>
            <a:off x="8211240" y="1948680"/>
            <a:ext cx="420120" cy="420120"/>
          </a:xfrm>
          <a:prstGeom prst="ellipse">
            <a:avLst/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17"/>
          <p:cNvSpPr/>
          <p:nvPr/>
        </p:nvSpPr>
        <p:spPr>
          <a:xfrm>
            <a:off x="8211240" y="1971720"/>
            <a:ext cx="42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8"/>
          <p:cNvSpPr/>
          <p:nvPr/>
        </p:nvSpPr>
        <p:spPr>
          <a:xfrm>
            <a:off x="8759880" y="192132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Neuer Mitarbeiter sales03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19"/>
          <p:cNvSpPr/>
          <p:nvPr/>
        </p:nvSpPr>
        <p:spPr>
          <a:xfrm>
            <a:off x="8759880" y="2259720"/>
            <a:ext cx="2651400" cy="7631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Eintrag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in users.csv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ergänzt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und setup-users.sh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erneut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ausgeführt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 Nur sales03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wird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angelegt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;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bestehende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Konten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bleiben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unverändert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20"/>
          <p:cNvSpPr/>
          <p:nvPr/>
        </p:nvSpPr>
        <p:spPr>
          <a:xfrm>
            <a:off x="640080" y="3675240"/>
            <a:ext cx="3702960" cy="2285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2" name="Picture 21" descr="slide_5.png"/>
          <p:cNvPicPr/>
          <p:nvPr/>
        </p:nvPicPr>
        <p:blipFill>
          <a:blip r:embed="rId2"/>
          <a:stretch/>
        </p:blipFill>
        <p:spPr>
          <a:xfrm>
            <a:off x="640080" y="4064760"/>
            <a:ext cx="3702960" cy="150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Box 22"/>
          <p:cNvSpPr/>
          <p:nvPr/>
        </p:nvSpPr>
        <p:spPr>
          <a:xfrm>
            <a:off x="713160" y="60526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Permission denied bei unberechtigtem Zugriff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23"/>
          <p:cNvSpPr/>
          <p:nvPr/>
        </p:nvSpPr>
        <p:spPr>
          <a:xfrm>
            <a:off x="4526280" y="3675240"/>
            <a:ext cx="3702960" cy="2285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5" name="Picture 24" descr="slide_6.png"/>
          <p:cNvPicPr/>
          <p:nvPr/>
        </p:nvPicPr>
        <p:blipFill>
          <a:blip r:embed="rId3"/>
          <a:stretch/>
        </p:blipFill>
        <p:spPr>
          <a:xfrm>
            <a:off x="4526280" y="4111200"/>
            <a:ext cx="3702960" cy="141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TextBox 25"/>
          <p:cNvSpPr/>
          <p:nvPr/>
        </p:nvSpPr>
        <p:spPr>
          <a:xfrm>
            <a:off x="4599360" y="60526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Gruppenzuordnung und Rechteprüfung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26"/>
          <p:cNvSpPr/>
          <p:nvPr/>
        </p:nvSpPr>
        <p:spPr>
          <a:xfrm>
            <a:off x="8412480" y="3675240"/>
            <a:ext cx="3154320" cy="2285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8" name="Picture 27" descr="slide_7.png"/>
          <p:cNvPicPr/>
          <p:nvPr/>
        </p:nvPicPr>
        <p:blipFill>
          <a:blip r:embed="rId4"/>
          <a:stretch/>
        </p:blipFill>
        <p:spPr>
          <a:xfrm>
            <a:off x="8441280" y="3675240"/>
            <a:ext cx="309636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Box 28"/>
          <p:cNvSpPr/>
          <p:nvPr/>
        </p:nvSpPr>
        <p:spPr>
          <a:xfrm>
            <a:off x="8485560" y="6052680"/>
            <a:ext cx="3017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Idempotente Neuausführung mit sales03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29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30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31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7. Backup und Restore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Nicht nur sichern – die Wiederherstellung wurde praktisch nachgewiesen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DATENSICHERUNG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ounded Rectangle 5"/>
          <p:cNvSpPr/>
          <p:nvPr/>
        </p:nvSpPr>
        <p:spPr>
          <a:xfrm>
            <a:off x="640080" y="132588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Oval 6"/>
          <p:cNvSpPr/>
          <p:nvPr/>
        </p:nvSpPr>
        <p:spPr>
          <a:xfrm>
            <a:off x="749880" y="1463040"/>
            <a:ext cx="383760" cy="383760"/>
          </a:xfrm>
          <a:prstGeom prst="ellipse">
            <a:avLst/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7"/>
          <p:cNvSpPr/>
          <p:nvPr/>
        </p:nvSpPr>
        <p:spPr>
          <a:xfrm>
            <a:off x="749880" y="1545480"/>
            <a:ext cx="383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8"/>
          <p:cNvSpPr/>
          <p:nvPr/>
        </p:nvSpPr>
        <p:spPr>
          <a:xfrm>
            <a:off x="1234440" y="1444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Backup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9"/>
          <p:cNvSpPr/>
          <p:nvPr/>
        </p:nvSpPr>
        <p:spPr>
          <a:xfrm>
            <a:off x="777240" y="1901880"/>
            <a:ext cx="1782720" cy="3784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/company → tar.gz in /backup/company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Chevron 10"/>
          <p:cNvSpPr/>
          <p:nvPr/>
        </p:nvSpPr>
        <p:spPr>
          <a:xfrm>
            <a:off x="2761560" y="1755720"/>
            <a:ext cx="319680" cy="456840"/>
          </a:xfrm>
          <a:prstGeom prst="chevron">
            <a:avLst>
              <a:gd name="adj" fmla="val 50000"/>
            </a:avLst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Rounded Rectangle 11"/>
          <p:cNvSpPr/>
          <p:nvPr/>
        </p:nvSpPr>
        <p:spPr>
          <a:xfrm>
            <a:off x="2907720" y="132588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Oval 12"/>
          <p:cNvSpPr/>
          <p:nvPr/>
        </p:nvSpPr>
        <p:spPr>
          <a:xfrm>
            <a:off x="3017520" y="1463040"/>
            <a:ext cx="383760" cy="383760"/>
          </a:xfrm>
          <a:prstGeom prst="ellipse">
            <a:avLst/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13"/>
          <p:cNvSpPr/>
          <p:nvPr/>
        </p:nvSpPr>
        <p:spPr>
          <a:xfrm>
            <a:off x="3017520" y="1545480"/>
            <a:ext cx="383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14"/>
          <p:cNvSpPr/>
          <p:nvPr/>
        </p:nvSpPr>
        <p:spPr>
          <a:xfrm>
            <a:off x="3502080" y="1444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Fehlerfall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5"/>
          <p:cNvSpPr/>
          <p:nvPr/>
        </p:nvSpPr>
        <p:spPr>
          <a:xfrm>
            <a:off x="3044880" y="1901880"/>
            <a:ext cx="1782720" cy="2168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restore-test.txt 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wird</a:t>
            </a: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gelöscht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Chevron 16"/>
          <p:cNvSpPr/>
          <p:nvPr/>
        </p:nvSpPr>
        <p:spPr>
          <a:xfrm>
            <a:off x="5029200" y="1755720"/>
            <a:ext cx="319680" cy="456840"/>
          </a:xfrm>
          <a:prstGeom prst="chevron">
            <a:avLst>
              <a:gd name="adj" fmla="val 50000"/>
            </a:avLst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Rounded Rectangle 17"/>
          <p:cNvSpPr/>
          <p:nvPr/>
        </p:nvSpPr>
        <p:spPr>
          <a:xfrm>
            <a:off x="5175360" y="132588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Oval 18"/>
          <p:cNvSpPr/>
          <p:nvPr/>
        </p:nvSpPr>
        <p:spPr>
          <a:xfrm>
            <a:off x="5285160" y="1463040"/>
            <a:ext cx="383760" cy="383760"/>
          </a:xfrm>
          <a:prstGeom prst="ellipse">
            <a:avLst/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19"/>
          <p:cNvSpPr/>
          <p:nvPr/>
        </p:nvSpPr>
        <p:spPr>
          <a:xfrm>
            <a:off x="5285160" y="1545480"/>
            <a:ext cx="383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20"/>
          <p:cNvSpPr/>
          <p:nvPr/>
        </p:nvSpPr>
        <p:spPr>
          <a:xfrm>
            <a:off x="5769720" y="1444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Analyse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1"/>
          <p:cNvSpPr/>
          <p:nvPr/>
        </p:nvSpPr>
        <p:spPr>
          <a:xfrm>
            <a:off x="5312520" y="1901880"/>
            <a:ext cx="1782720" cy="3784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tar-Option 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zunächst</a:t>
            </a: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falsch</a:t>
            </a: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: -c 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statt</a:t>
            </a: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-C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Chevron 22"/>
          <p:cNvSpPr/>
          <p:nvPr/>
        </p:nvSpPr>
        <p:spPr>
          <a:xfrm>
            <a:off x="7296840" y="1755720"/>
            <a:ext cx="319680" cy="456840"/>
          </a:xfrm>
          <a:prstGeom prst="chevron">
            <a:avLst>
              <a:gd name="adj" fmla="val 50000"/>
            </a:avLst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Rounded Rectangle 23"/>
          <p:cNvSpPr/>
          <p:nvPr/>
        </p:nvSpPr>
        <p:spPr>
          <a:xfrm>
            <a:off x="7443360" y="132588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Oval 24"/>
          <p:cNvSpPr/>
          <p:nvPr/>
        </p:nvSpPr>
        <p:spPr>
          <a:xfrm>
            <a:off x="7552800" y="1463040"/>
            <a:ext cx="383760" cy="383760"/>
          </a:xfrm>
          <a:prstGeom prst="ellipse">
            <a:avLst/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7" name="TextBox 25"/>
          <p:cNvSpPr/>
          <p:nvPr/>
        </p:nvSpPr>
        <p:spPr>
          <a:xfrm>
            <a:off x="7552800" y="1545480"/>
            <a:ext cx="383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6"/>
          <p:cNvSpPr/>
          <p:nvPr/>
        </p:nvSpPr>
        <p:spPr>
          <a:xfrm>
            <a:off x="8037720" y="1444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Korrektur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27"/>
          <p:cNvSpPr/>
          <p:nvPr/>
        </p:nvSpPr>
        <p:spPr>
          <a:xfrm>
            <a:off x="7580520" y="1901880"/>
            <a:ext cx="1782720" cy="5400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Archiv</a:t>
            </a: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korrekt</a:t>
            </a: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nach</a:t>
            </a: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/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tmp</a:t>
            </a: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/backup-company 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entpackt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Chevron 28"/>
          <p:cNvSpPr/>
          <p:nvPr/>
        </p:nvSpPr>
        <p:spPr>
          <a:xfrm>
            <a:off x="9564480" y="1755720"/>
            <a:ext cx="319680" cy="456840"/>
          </a:xfrm>
          <a:prstGeom prst="chevron">
            <a:avLst>
              <a:gd name="adj" fmla="val 50000"/>
            </a:avLst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1" name="Rounded Rectangle 29"/>
          <p:cNvSpPr/>
          <p:nvPr/>
        </p:nvSpPr>
        <p:spPr>
          <a:xfrm>
            <a:off x="9711000" y="1325880"/>
            <a:ext cx="20570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Oval 30"/>
          <p:cNvSpPr/>
          <p:nvPr/>
        </p:nvSpPr>
        <p:spPr>
          <a:xfrm>
            <a:off x="9820800" y="1463040"/>
            <a:ext cx="383760" cy="383760"/>
          </a:xfrm>
          <a:prstGeom prst="ellipse">
            <a:avLst/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31"/>
          <p:cNvSpPr/>
          <p:nvPr/>
        </p:nvSpPr>
        <p:spPr>
          <a:xfrm>
            <a:off x="9820800" y="1545480"/>
            <a:ext cx="383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32"/>
          <p:cNvSpPr/>
          <p:nvPr/>
        </p:nvSpPr>
        <p:spPr>
          <a:xfrm>
            <a:off x="10305360" y="144468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Restore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33"/>
          <p:cNvSpPr/>
          <p:nvPr/>
        </p:nvSpPr>
        <p:spPr>
          <a:xfrm>
            <a:off x="9848160" y="1901880"/>
            <a:ext cx="1782720" cy="3784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Datei</a:t>
            </a: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zurück</a:t>
            </a: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nach</a:t>
            </a:r>
            <a:r>
              <a:rPr lang="en-US" sz="10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/company/sales </a:t>
            </a:r>
            <a:r>
              <a:rPr lang="en-US" sz="10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kopiert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34"/>
          <p:cNvSpPr/>
          <p:nvPr/>
        </p:nvSpPr>
        <p:spPr>
          <a:xfrm>
            <a:off x="640080" y="3154680"/>
            <a:ext cx="5303160" cy="196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7" name="Picture 35" descr="slide_8.png"/>
          <p:cNvPicPr/>
          <p:nvPr/>
        </p:nvPicPr>
        <p:blipFill>
          <a:blip r:embed="rId2"/>
          <a:stretch/>
        </p:blipFill>
        <p:spPr>
          <a:xfrm>
            <a:off x="640080" y="3895560"/>
            <a:ext cx="5303160" cy="48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TextBox 36"/>
          <p:cNvSpPr/>
          <p:nvPr/>
        </p:nvSpPr>
        <p:spPr>
          <a:xfrm>
            <a:off x="713160" y="5230440"/>
            <a:ext cx="516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Backup-Lauf: komprimiertes Archiv wird erfolgreich erzeugt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37"/>
          <p:cNvSpPr/>
          <p:nvPr/>
        </p:nvSpPr>
        <p:spPr>
          <a:xfrm>
            <a:off x="6172200" y="3154680"/>
            <a:ext cx="5394600" cy="196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0" name="Picture 38" descr="slide_9.png"/>
          <p:cNvPicPr/>
          <p:nvPr/>
        </p:nvPicPr>
        <p:blipFill>
          <a:blip r:embed="rId3"/>
          <a:stretch/>
        </p:blipFill>
        <p:spPr>
          <a:xfrm>
            <a:off x="6981120" y="3154680"/>
            <a:ext cx="3777120" cy="196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TextBox 39"/>
          <p:cNvSpPr/>
          <p:nvPr/>
        </p:nvSpPr>
        <p:spPr>
          <a:xfrm>
            <a:off x="6245280" y="5230440"/>
            <a:ext cx="5211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Restore-Lauf: restore-test.txt ist nach dem Wiederherstellen wieder vorhanden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40"/>
          <p:cNvSpPr/>
          <p:nvPr/>
        </p:nvSpPr>
        <p:spPr>
          <a:xfrm>
            <a:off x="731520" y="5760720"/>
            <a:ext cx="10789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2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Bewertung des Nachweises: Erst der Zyklus „Sichern → Löschen → Wiederherstellen“ zeigt, dass die Datensicherung im Ernstfall nutzbar ist.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41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42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43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8. Systemzustand und Logauswertung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Vier Prüfskripte liefern einen kompakten Betriebsstatus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MONITORING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ounded Rectangle 5"/>
          <p:cNvSpPr/>
          <p:nvPr/>
        </p:nvSpPr>
        <p:spPr>
          <a:xfrm>
            <a:off x="640080" y="1234440"/>
            <a:ext cx="265140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6"/>
          <p:cNvSpPr/>
          <p:nvPr/>
        </p:nvSpPr>
        <p:spPr>
          <a:xfrm>
            <a:off x="804600" y="14173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1E7E85"/>
                </a:solidFill>
                <a:effectLst/>
                <a:uFillTx/>
                <a:latin typeface="Aptos"/>
              </a:rPr>
              <a:t>check-disk.sh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7"/>
          <p:cNvSpPr/>
          <p:nvPr/>
        </p:nvSpPr>
        <p:spPr>
          <a:xfrm>
            <a:off x="804600" y="17557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Speicherplatz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8"/>
          <p:cNvSpPr/>
          <p:nvPr/>
        </p:nvSpPr>
        <p:spPr>
          <a:xfrm>
            <a:off x="804600" y="20300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18 % Auslastung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Rounded Rectangle 9"/>
          <p:cNvSpPr/>
          <p:nvPr/>
        </p:nvSpPr>
        <p:spPr>
          <a:xfrm>
            <a:off x="3456360" y="1234440"/>
            <a:ext cx="265140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10"/>
          <p:cNvSpPr/>
          <p:nvPr/>
        </p:nvSpPr>
        <p:spPr>
          <a:xfrm>
            <a:off x="3620880" y="14173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2E7D4E"/>
                </a:solidFill>
                <a:effectLst/>
                <a:uFillTx/>
                <a:latin typeface="Aptos"/>
              </a:rPr>
              <a:t>check-services.sh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11"/>
          <p:cNvSpPr/>
          <p:nvPr/>
        </p:nvSpPr>
        <p:spPr>
          <a:xfrm>
            <a:off x="3620880" y="17557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Dienste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12"/>
          <p:cNvSpPr/>
          <p:nvPr/>
        </p:nvSpPr>
        <p:spPr>
          <a:xfrm>
            <a:off x="3620880" y="20300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ssh · cron · ufw aktiv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ounded Rectangle 13"/>
          <p:cNvSpPr/>
          <p:nvPr/>
        </p:nvSpPr>
        <p:spPr>
          <a:xfrm>
            <a:off x="6272640" y="1234440"/>
            <a:ext cx="265140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14"/>
          <p:cNvSpPr/>
          <p:nvPr/>
        </p:nvSpPr>
        <p:spPr>
          <a:xfrm>
            <a:off x="6437520" y="14173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ssh-audit.sh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15"/>
          <p:cNvSpPr/>
          <p:nvPr/>
        </p:nvSpPr>
        <p:spPr>
          <a:xfrm>
            <a:off x="6437520" y="17557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SSH-Sicherheit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16"/>
          <p:cNvSpPr/>
          <p:nvPr/>
        </p:nvSpPr>
        <p:spPr>
          <a:xfrm>
            <a:off x="6437520" y="20300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fehlgeschlagener Login sichtbar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ounded Rectangle 17"/>
          <p:cNvSpPr/>
          <p:nvPr/>
        </p:nvSpPr>
        <p:spPr>
          <a:xfrm>
            <a:off x="9089280" y="1234440"/>
            <a:ext cx="265140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18"/>
          <p:cNvSpPr/>
          <p:nvPr/>
        </p:nvSpPr>
        <p:spPr>
          <a:xfrm>
            <a:off x="9253800" y="14173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EB7E2D"/>
                </a:solidFill>
                <a:effectLst/>
                <a:uFillTx/>
                <a:latin typeface="Aptos"/>
              </a:rPr>
              <a:t>log-report.sh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9"/>
          <p:cNvSpPr/>
          <p:nvPr/>
        </p:nvSpPr>
        <p:spPr>
          <a:xfrm>
            <a:off x="9253800" y="1755720"/>
            <a:ext cx="22856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Zusammenfassung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20"/>
          <p:cNvSpPr/>
          <p:nvPr/>
        </p:nvSpPr>
        <p:spPr>
          <a:xfrm>
            <a:off x="9253800" y="20300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lesbarer Gesamtbericht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21"/>
          <p:cNvSpPr/>
          <p:nvPr/>
        </p:nvSpPr>
        <p:spPr>
          <a:xfrm>
            <a:off x="640080" y="2752920"/>
            <a:ext cx="5394600" cy="296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37" name="Picture 22" descr="slide_10.png"/>
          <p:cNvPicPr/>
          <p:nvPr/>
        </p:nvPicPr>
        <p:blipFill>
          <a:blip r:embed="rId2"/>
          <a:stretch/>
        </p:blipFill>
        <p:spPr>
          <a:xfrm>
            <a:off x="1687680" y="2788920"/>
            <a:ext cx="3299400" cy="292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Box 23"/>
          <p:cNvSpPr/>
          <p:nvPr/>
        </p:nvSpPr>
        <p:spPr>
          <a:xfrm>
            <a:off x="1828800" y="5758920"/>
            <a:ext cx="2765520" cy="18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Gemeinsamer Testlauf der Monitoring- und Audit-Skripte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ounded Rectangle 24"/>
          <p:cNvSpPr/>
          <p:nvPr/>
        </p:nvSpPr>
        <p:spPr>
          <a:xfrm>
            <a:off x="6263640" y="2788920"/>
            <a:ext cx="5257440" cy="2926080"/>
          </a:xfrm>
          <a:prstGeom prst="roundRect">
            <a:avLst>
              <a:gd name="adj" fmla="val 16667"/>
            </a:avLst>
          </a:prstGeom>
          <a:solidFill>
            <a:srgbClr val="F6F7FA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TextBox 25"/>
          <p:cNvSpPr/>
          <p:nvPr/>
        </p:nvSpPr>
        <p:spPr>
          <a:xfrm>
            <a:off x="6537960" y="3063240"/>
            <a:ext cx="1941840" cy="31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Wichtiger Befund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26"/>
          <p:cNvSpPr/>
          <p:nvPr/>
        </p:nvSpPr>
        <p:spPr>
          <a:xfrm>
            <a:off x="6492240" y="3520440"/>
            <a:ext cx="457164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18360" rIns="36720" bIns="1836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Festplattenauslastung: 18 % – Status „OK“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SSH, Cron und UFW: aktiv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Fehlgeschlagener Login für ungültigen Benutzer „admin“ sichtbar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PermitRootLogin: prohibit-password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2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Verbesserungspunkt: last fehlt auf dem Minimal-System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27"/>
          <p:cNvSpPr/>
          <p:nvPr/>
        </p:nvSpPr>
        <p:spPr>
          <a:xfrm>
            <a:off x="6537960" y="5041440"/>
            <a:ext cx="4781880" cy="3784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i="1" u="none" strike="noStrike" dirty="0">
                <a:solidFill>
                  <a:srgbClr val="B73939"/>
                </a:solidFill>
                <a:effectLst/>
                <a:uFillTx/>
                <a:latin typeface="Aptos"/>
              </a:rPr>
              <a:t>Die </a:t>
            </a:r>
            <a:r>
              <a:rPr lang="en-US" sz="1050" b="0" i="1" u="none" strike="noStrike" dirty="0" err="1">
                <a:solidFill>
                  <a:srgbClr val="B73939"/>
                </a:solidFill>
                <a:effectLst/>
                <a:uFillTx/>
                <a:latin typeface="Aptos"/>
              </a:rPr>
              <a:t>Fehlermeldung</a:t>
            </a:r>
            <a:r>
              <a:rPr lang="en-US" sz="1050" b="0" i="1" u="none" strike="noStrike" dirty="0">
                <a:solidFill>
                  <a:srgbClr val="B73939"/>
                </a:solidFill>
                <a:effectLst/>
                <a:uFillTx/>
                <a:latin typeface="Aptos"/>
              </a:rPr>
              <a:t> „</a:t>
            </a:r>
            <a:r>
              <a:rPr lang="en-US" sz="1050" b="0" i="1" u="none" strike="noStrike" dirty="0" err="1">
                <a:solidFill>
                  <a:srgbClr val="B73939"/>
                </a:solidFill>
                <a:effectLst/>
                <a:uFillTx/>
                <a:latin typeface="Aptos"/>
              </a:rPr>
              <a:t>las:t</a:t>
            </a:r>
            <a:r>
              <a:rPr lang="en-US" sz="1050" b="0" i="1" u="none" strike="noStrike" dirty="0">
                <a:solidFill>
                  <a:srgbClr val="B73939"/>
                </a:solidFill>
                <a:effectLst/>
                <a:uFillTx/>
                <a:latin typeface="Aptos"/>
              </a:rPr>
              <a:t> command not found“ </a:t>
            </a:r>
            <a:r>
              <a:rPr lang="en-US" sz="1050" b="0" i="1" u="none" strike="noStrike" dirty="0" err="1">
                <a:solidFill>
                  <a:srgbClr val="B73939"/>
                </a:solidFill>
                <a:effectLst/>
                <a:uFillTx/>
                <a:latin typeface="Aptos"/>
              </a:rPr>
              <a:t>stoppt</a:t>
            </a:r>
            <a:r>
              <a:rPr lang="en-US" sz="1050" b="0" i="1" u="none" strike="noStrike" dirty="0">
                <a:solidFill>
                  <a:srgbClr val="B73939"/>
                </a:solidFill>
                <a:effectLst/>
                <a:uFillTx/>
                <a:latin typeface="Aptos"/>
              </a:rPr>
              <a:t> den </a:t>
            </a:r>
            <a:r>
              <a:rPr lang="en-US" sz="1050" b="0" i="1" u="none" strike="noStrike" dirty="0" err="1">
                <a:solidFill>
                  <a:srgbClr val="B73939"/>
                </a:solidFill>
                <a:effectLst/>
                <a:uFillTx/>
                <a:latin typeface="Aptos"/>
              </a:rPr>
              <a:t>restlichen</a:t>
            </a:r>
            <a:r>
              <a:rPr lang="en-US" sz="1050" b="0" i="1" u="none" strike="noStrike" dirty="0">
                <a:solidFill>
                  <a:srgbClr val="B73939"/>
                </a:solidFill>
                <a:effectLst/>
                <a:uFillTx/>
                <a:latin typeface="Aptos"/>
              </a:rPr>
              <a:t> </a:t>
            </a:r>
            <a:r>
              <a:rPr lang="en-US" sz="1050" b="0" i="1" u="none" strike="noStrike" dirty="0" err="1">
                <a:solidFill>
                  <a:srgbClr val="B73939"/>
                </a:solidFill>
                <a:effectLst/>
                <a:uFillTx/>
                <a:latin typeface="Aptos"/>
              </a:rPr>
              <a:t>Ablauf</a:t>
            </a:r>
            <a:r>
              <a:rPr lang="en-US" sz="1050" b="0" i="1" u="none" strike="noStrike" dirty="0">
                <a:solidFill>
                  <a:srgbClr val="B73939"/>
                </a:solidFill>
                <a:effectLst/>
                <a:uFillTx/>
                <a:latin typeface="Aptos"/>
              </a:rPr>
              <a:t> nicht, </a:t>
            </a:r>
            <a:r>
              <a:rPr lang="en-US" sz="1050" b="0" i="1" u="none" strike="noStrike" dirty="0" err="1">
                <a:solidFill>
                  <a:srgbClr val="B73939"/>
                </a:solidFill>
                <a:effectLst/>
                <a:uFillTx/>
                <a:latin typeface="Aptos"/>
              </a:rPr>
              <a:t>wird</a:t>
            </a:r>
            <a:r>
              <a:rPr lang="en-US" sz="1050" b="0" i="1" u="none" strike="noStrike" dirty="0">
                <a:solidFill>
                  <a:srgbClr val="B73939"/>
                </a:solidFill>
                <a:effectLst/>
                <a:uFillTx/>
                <a:latin typeface="Aptos"/>
              </a:rPr>
              <a:t> </a:t>
            </a:r>
            <a:r>
              <a:rPr lang="en-US" sz="1050" b="0" i="1" u="none" strike="noStrike" dirty="0" err="1">
                <a:solidFill>
                  <a:srgbClr val="B73939"/>
                </a:solidFill>
                <a:effectLst/>
                <a:uFillTx/>
                <a:latin typeface="Aptos"/>
              </a:rPr>
              <a:t>aber</a:t>
            </a:r>
            <a:r>
              <a:rPr lang="en-US" sz="1050" b="0" i="1" u="none" strike="noStrike" dirty="0">
                <a:solidFill>
                  <a:srgbClr val="B73939"/>
                </a:solidFill>
                <a:effectLst/>
                <a:uFillTx/>
                <a:latin typeface="Aptos"/>
              </a:rPr>
              <a:t> </a:t>
            </a:r>
            <a:r>
              <a:rPr lang="en-US" sz="1050" b="0" i="1" u="none" strike="noStrike" dirty="0" err="1">
                <a:solidFill>
                  <a:srgbClr val="B73939"/>
                </a:solidFill>
                <a:effectLst/>
                <a:uFillTx/>
                <a:latin typeface="Aptos"/>
              </a:rPr>
              <a:t>dokumentiert</a:t>
            </a:r>
            <a:r>
              <a:rPr lang="en-US" sz="1050" b="0" i="1" u="none" strike="noStrike" dirty="0">
                <a:solidFill>
                  <a:srgbClr val="B73939"/>
                </a:solidFill>
                <a:effectLst/>
                <a:uFillTx/>
                <a:latin typeface="Aptos"/>
              </a:rPr>
              <a:t>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28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29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30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9. Automatisierung und Sicherheit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Regelmäßige Aufgaben werden über Cron ausgeführt und der Server durch UFW geschützt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AUTOMATISIERUNG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5"/>
          <p:cNvSpPr/>
          <p:nvPr/>
        </p:nvSpPr>
        <p:spPr>
          <a:xfrm>
            <a:off x="640080" y="1234440"/>
            <a:ext cx="5486040" cy="333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1" name="Picture 6" descr="slide_12.png"/>
          <p:cNvPicPr/>
          <p:nvPr/>
        </p:nvPicPr>
        <p:blipFill>
          <a:blip r:embed="rId2"/>
          <a:stretch/>
        </p:blipFill>
        <p:spPr>
          <a:xfrm>
            <a:off x="640080" y="1416600"/>
            <a:ext cx="5486040" cy="2973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TextBox 7"/>
          <p:cNvSpPr/>
          <p:nvPr/>
        </p:nvSpPr>
        <p:spPr>
          <a:xfrm>
            <a:off x="713160" y="4645080"/>
            <a:ext cx="5348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Crontab: fünf geplante Aufgaben für Backup, Bericht, Checks und Cleanup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8"/>
          <p:cNvSpPr/>
          <p:nvPr/>
        </p:nvSpPr>
        <p:spPr>
          <a:xfrm>
            <a:off x="6446520" y="12344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Geplante Jobs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ounded Rectangle 9"/>
          <p:cNvSpPr/>
          <p:nvPr/>
        </p:nvSpPr>
        <p:spPr>
          <a:xfrm>
            <a:off x="6446520" y="1691640"/>
            <a:ext cx="1142640" cy="475200"/>
          </a:xfrm>
          <a:prstGeom prst="roundRect">
            <a:avLst>
              <a:gd name="adj" fmla="val 16667"/>
            </a:avLst>
          </a:prstGeom>
          <a:solidFill>
            <a:srgbClr val="F5F0FA"/>
          </a:solidFill>
          <a:ln w="12700">
            <a:solidFill>
              <a:srgbClr val="DCD0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10"/>
          <p:cNvSpPr/>
          <p:nvPr/>
        </p:nvSpPr>
        <p:spPr>
          <a:xfrm>
            <a:off x="6492240" y="181980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16:30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1"/>
          <p:cNvSpPr/>
          <p:nvPr/>
        </p:nvSpPr>
        <p:spPr>
          <a:xfrm>
            <a:off x="7754040" y="179208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Täglicher Admin-Bericht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ounded Rectangle 12"/>
          <p:cNvSpPr/>
          <p:nvPr/>
        </p:nvSpPr>
        <p:spPr>
          <a:xfrm>
            <a:off x="6446520" y="2258640"/>
            <a:ext cx="1142640" cy="475200"/>
          </a:xfrm>
          <a:prstGeom prst="roundRect">
            <a:avLst>
              <a:gd name="adj" fmla="val 16667"/>
            </a:avLst>
          </a:prstGeom>
          <a:solidFill>
            <a:srgbClr val="F5F0FA"/>
          </a:solidFill>
          <a:ln w="12700">
            <a:solidFill>
              <a:srgbClr val="DCD0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TextBox 13"/>
          <p:cNvSpPr/>
          <p:nvPr/>
        </p:nvSpPr>
        <p:spPr>
          <a:xfrm>
            <a:off x="6492240" y="238644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17:00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14"/>
          <p:cNvSpPr/>
          <p:nvPr/>
        </p:nvSpPr>
        <p:spPr>
          <a:xfrm>
            <a:off x="7754040" y="235908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Tägliches Backup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ounded Rectangle 15"/>
          <p:cNvSpPr/>
          <p:nvPr/>
        </p:nvSpPr>
        <p:spPr>
          <a:xfrm>
            <a:off x="6446520" y="2825640"/>
            <a:ext cx="1142640" cy="475200"/>
          </a:xfrm>
          <a:prstGeom prst="roundRect">
            <a:avLst>
              <a:gd name="adj" fmla="val 16667"/>
            </a:avLst>
          </a:prstGeom>
          <a:solidFill>
            <a:srgbClr val="F5F0FA"/>
          </a:solidFill>
          <a:ln w="12700">
            <a:solidFill>
              <a:srgbClr val="DCD0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16"/>
          <p:cNvSpPr/>
          <p:nvPr/>
        </p:nvSpPr>
        <p:spPr>
          <a:xfrm>
            <a:off x="6492240" y="295344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stündlich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17"/>
          <p:cNvSpPr/>
          <p:nvPr/>
        </p:nvSpPr>
        <p:spPr>
          <a:xfrm>
            <a:off x="7754040" y="292608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Speicherprüfung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ounded Rectangle 18"/>
          <p:cNvSpPr/>
          <p:nvPr/>
        </p:nvSpPr>
        <p:spPr>
          <a:xfrm>
            <a:off x="6446520" y="3392280"/>
            <a:ext cx="1142640" cy="475200"/>
          </a:xfrm>
          <a:prstGeom prst="roundRect">
            <a:avLst>
              <a:gd name="adj" fmla="val 16667"/>
            </a:avLst>
          </a:prstGeom>
          <a:solidFill>
            <a:srgbClr val="F5F0FA"/>
          </a:solidFill>
          <a:ln w="12700">
            <a:solidFill>
              <a:srgbClr val="DCD0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19"/>
          <p:cNvSpPr/>
          <p:nvPr/>
        </p:nvSpPr>
        <p:spPr>
          <a:xfrm>
            <a:off x="6492240" y="352044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Fr 18:00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0"/>
          <p:cNvSpPr/>
          <p:nvPr/>
        </p:nvSpPr>
        <p:spPr>
          <a:xfrm>
            <a:off x="7754040" y="349308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Wöchentliche Logauswertung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Rounded Rectangle 21"/>
          <p:cNvSpPr/>
          <p:nvPr/>
        </p:nvSpPr>
        <p:spPr>
          <a:xfrm>
            <a:off x="6446520" y="3959280"/>
            <a:ext cx="1142640" cy="475200"/>
          </a:xfrm>
          <a:prstGeom prst="roundRect">
            <a:avLst>
              <a:gd name="adj" fmla="val 16667"/>
            </a:avLst>
          </a:prstGeom>
          <a:solidFill>
            <a:srgbClr val="F5F0FA"/>
          </a:solidFill>
          <a:ln w="12700">
            <a:solidFill>
              <a:srgbClr val="DCD0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22"/>
          <p:cNvSpPr/>
          <p:nvPr/>
        </p:nvSpPr>
        <p:spPr>
          <a:xfrm>
            <a:off x="6492240" y="4087440"/>
            <a:ext cx="1051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Fr 19:00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23"/>
          <p:cNvSpPr/>
          <p:nvPr/>
        </p:nvSpPr>
        <p:spPr>
          <a:xfrm>
            <a:off x="7754040" y="406008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Bereinigung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alter Dateien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ounded Rectangle 24"/>
          <p:cNvSpPr/>
          <p:nvPr/>
        </p:nvSpPr>
        <p:spPr>
          <a:xfrm>
            <a:off x="6446520" y="4709160"/>
            <a:ext cx="4891680" cy="914040"/>
          </a:xfrm>
          <a:prstGeom prst="roundRect">
            <a:avLst>
              <a:gd name="adj" fmla="val 16667"/>
            </a:avLst>
          </a:prstGeom>
          <a:solidFill>
            <a:srgbClr val="F1F8F4"/>
          </a:solidFill>
          <a:ln w="12700">
            <a:solidFill>
              <a:srgbClr val="C3DCC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25"/>
          <p:cNvSpPr/>
          <p:nvPr/>
        </p:nvSpPr>
        <p:spPr>
          <a:xfrm>
            <a:off x="6656760" y="490104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E7D4E"/>
                </a:solidFill>
                <a:effectLst/>
                <a:uFillTx/>
                <a:latin typeface="Aptos"/>
              </a:rPr>
              <a:t>UFW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26"/>
          <p:cNvSpPr/>
          <p:nvPr/>
        </p:nvSpPr>
        <p:spPr>
          <a:xfrm>
            <a:off x="7388280" y="4827960"/>
            <a:ext cx="3657240" cy="3999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2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deny (incoming) · allow (outgoing) · Port 22/</a:t>
            </a:r>
            <a:r>
              <a:rPr lang="en-US" sz="112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tcp</a:t>
            </a:r>
            <a:r>
              <a:rPr lang="en-US" sz="112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 </a:t>
            </a:r>
            <a:r>
              <a:rPr lang="en-US" sz="112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explizit</a:t>
            </a:r>
            <a:r>
              <a:rPr lang="en-US" sz="112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 </a:t>
            </a:r>
            <a:r>
              <a:rPr lang="en-US" sz="112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freigegeben</a:t>
            </a:r>
            <a:endParaRPr lang="en-U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27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28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29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10. Betriebsstörungen – Admin-Fälle 4–8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Diagnose, Eingrenzung und Wiederherstellung anhand konkreter Symptome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TROUBLESHOOTING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Rounded Rectangle 5"/>
          <p:cNvSpPr/>
          <p:nvPr/>
        </p:nvSpPr>
        <p:spPr>
          <a:xfrm>
            <a:off x="640080" y="1234440"/>
            <a:ext cx="521172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0" name="Oval 6"/>
          <p:cNvSpPr/>
          <p:nvPr/>
        </p:nvSpPr>
        <p:spPr>
          <a:xfrm>
            <a:off x="804600" y="1398960"/>
            <a:ext cx="420120" cy="420120"/>
          </a:xfrm>
          <a:prstGeom prst="ellipse">
            <a:avLst/>
          </a:prstGeom>
          <a:solidFill>
            <a:srgbClr val="2E7D4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7"/>
          <p:cNvSpPr/>
          <p:nvPr/>
        </p:nvSpPr>
        <p:spPr>
          <a:xfrm>
            <a:off x="804600" y="1486080"/>
            <a:ext cx="42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8"/>
          <p:cNvSpPr/>
          <p:nvPr/>
        </p:nvSpPr>
        <p:spPr>
          <a:xfrm>
            <a:off x="1371600" y="138996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Backup fehlt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9"/>
          <p:cNvSpPr/>
          <p:nvPr/>
        </p:nvSpPr>
        <p:spPr>
          <a:xfrm>
            <a:off x="1371600" y="1719000"/>
            <a:ext cx="4297320" cy="384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backup-company.sh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manuell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erneut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ausgeführt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→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neues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Archiv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erfolgreich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erzeugt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</a:t>
            </a:r>
            <a:endParaRPr lang="en-US" sz="10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ounded Rectangle 10"/>
          <p:cNvSpPr/>
          <p:nvPr/>
        </p:nvSpPr>
        <p:spPr>
          <a:xfrm>
            <a:off x="6172200" y="1234440"/>
            <a:ext cx="53488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Oval 11"/>
          <p:cNvSpPr/>
          <p:nvPr/>
        </p:nvSpPr>
        <p:spPr>
          <a:xfrm>
            <a:off x="6336720" y="1398960"/>
            <a:ext cx="420120" cy="420120"/>
          </a:xfrm>
          <a:prstGeom prst="ellipse">
            <a:avLst/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TextBox 12"/>
          <p:cNvSpPr/>
          <p:nvPr/>
        </p:nvSpPr>
        <p:spPr>
          <a:xfrm>
            <a:off x="6336720" y="1486080"/>
            <a:ext cx="42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13"/>
          <p:cNvSpPr/>
          <p:nvPr/>
        </p:nvSpPr>
        <p:spPr>
          <a:xfrm>
            <a:off x="6903720" y="1389960"/>
            <a:ext cx="4434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SSH nicht erreichbar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4"/>
          <p:cNvSpPr/>
          <p:nvPr/>
        </p:nvSpPr>
        <p:spPr>
          <a:xfrm>
            <a:off x="6903720" y="1719000"/>
            <a:ext cx="4434480" cy="384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Connection refused →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ssh.socket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/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ssh.service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gestoppt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→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systemctl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start ssh →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Verbindung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wieder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möglich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</a:t>
            </a:r>
            <a:endParaRPr lang="en-US" sz="10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Rounded Rectangle 15"/>
          <p:cNvSpPr/>
          <p:nvPr/>
        </p:nvSpPr>
        <p:spPr>
          <a:xfrm>
            <a:off x="640080" y="2788920"/>
            <a:ext cx="521172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Oval 16"/>
          <p:cNvSpPr/>
          <p:nvPr/>
        </p:nvSpPr>
        <p:spPr>
          <a:xfrm>
            <a:off x="804600" y="2953440"/>
            <a:ext cx="420120" cy="420120"/>
          </a:xfrm>
          <a:prstGeom prst="ellipse">
            <a:avLst/>
          </a:prstGeom>
          <a:solidFill>
            <a:srgbClr val="1E7E8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17"/>
          <p:cNvSpPr/>
          <p:nvPr/>
        </p:nvSpPr>
        <p:spPr>
          <a:xfrm>
            <a:off x="804600" y="3040200"/>
            <a:ext cx="42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18"/>
          <p:cNvSpPr/>
          <p:nvPr/>
        </p:nvSpPr>
        <p:spPr>
          <a:xfrm>
            <a:off x="1371600" y="2944440"/>
            <a:ext cx="42973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Cron-Ausführung unklar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19"/>
          <p:cNvSpPr/>
          <p:nvPr/>
        </p:nvSpPr>
        <p:spPr>
          <a:xfrm>
            <a:off x="1371600" y="3273480"/>
            <a:ext cx="4297320" cy="384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journalctl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-u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cron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statt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klassischer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grep-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Suche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in /var/log/syslog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verwenden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</a:t>
            </a:r>
            <a:endParaRPr lang="en-US" sz="10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ounded Rectangle 20"/>
          <p:cNvSpPr/>
          <p:nvPr/>
        </p:nvSpPr>
        <p:spPr>
          <a:xfrm>
            <a:off x="6172200" y="2788920"/>
            <a:ext cx="53488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Oval 21"/>
          <p:cNvSpPr/>
          <p:nvPr/>
        </p:nvSpPr>
        <p:spPr>
          <a:xfrm>
            <a:off x="6336720" y="2953440"/>
            <a:ext cx="420120" cy="420120"/>
          </a:xfrm>
          <a:prstGeom prst="ellipse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6" name="TextBox 22"/>
          <p:cNvSpPr/>
          <p:nvPr/>
        </p:nvSpPr>
        <p:spPr>
          <a:xfrm>
            <a:off x="6336720" y="3040200"/>
            <a:ext cx="42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23"/>
          <p:cNvSpPr/>
          <p:nvPr/>
        </p:nvSpPr>
        <p:spPr>
          <a:xfrm>
            <a:off x="6903720" y="2944440"/>
            <a:ext cx="4434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Datei gelöscht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24"/>
          <p:cNvSpPr/>
          <p:nvPr/>
        </p:nvSpPr>
        <p:spPr>
          <a:xfrm>
            <a:off x="6903720" y="3273480"/>
            <a:ext cx="4434480" cy="2199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restore-test.txt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entfernt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→ Restore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aus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Backup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als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Wiederherstellungsweg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</a:t>
            </a:r>
            <a:endParaRPr lang="en-US" sz="10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ounded Rectangle 25"/>
          <p:cNvSpPr/>
          <p:nvPr/>
        </p:nvSpPr>
        <p:spPr>
          <a:xfrm>
            <a:off x="3401640" y="4343400"/>
            <a:ext cx="539460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Oval 26"/>
          <p:cNvSpPr/>
          <p:nvPr/>
        </p:nvSpPr>
        <p:spPr>
          <a:xfrm>
            <a:off x="3566160" y="4507920"/>
            <a:ext cx="420120" cy="420120"/>
          </a:xfrm>
          <a:prstGeom prst="ellipse">
            <a:avLst/>
          </a:prstGeom>
          <a:solidFill>
            <a:srgbClr val="161F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27"/>
          <p:cNvSpPr/>
          <p:nvPr/>
        </p:nvSpPr>
        <p:spPr>
          <a:xfrm>
            <a:off x="3566160" y="4595040"/>
            <a:ext cx="42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28"/>
          <p:cNvSpPr/>
          <p:nvPr/>
        </p:nvSpPr>
        <p:spPr>
          <a:xfrm>
            <a:off x="4133160" y="4498920"/>
            <a:ext cx="4480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Tagesbericht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29"/>
          <p:cNvSpPr/>
          <p:nvPr/>
        </p:nvSpPr>
        <p:spPr>
          <a:xfrm>
            <a:off x="4133160" y="4827960"/>
            <a:ext cx="4480200" cy="3845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daily-admin-report.sh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erzeugt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Bericht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für Speicher, </a:t>
            </a:r>
            <a:r>
              <a:rPr lang="en-US" sz="107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Dienste</a:t>
            </a:r>
            <a:r>
              <a:rPr lang="en-US" sz="107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, SSH und Backup.</a:t>
            </a:r>
            <a:endParaRPr lang="en-US" sz="107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30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TextBox 31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32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8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11. Qualitätssicherung und Re-Tests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Vor dem Abschluss wurden zentrale Funktionen erneut vollständig geprüft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QUALITÄT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Rectangle 5"/>
          <p:cNvSpPr/>
          <p:nvPr/>
        </p:nvSpPr>
        <p:spPr>
          <a:xfrm>
            <a:off x="640080" y="1234440"/>
            <a:ext cx="3657240" cy="223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12" name="Picture 6" descr="slide_9.png"/>
          <p:cNvPicPr/>
          <p:nvPr/>
        </p:nvPicPr>
        <p:blipFill>
          <a:blip r:embed="rId2"/>
          <a:stretch/>
        </p:blipFill>
        <p:spPr>
          <a:xfrm>
            <a:off x="640080" y="1402920"/>
            <a:ext cx="3657240" cy="190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TextBox 7"/>
          <p:cNvSpPr/>
          <p:nvPr/>
        </p:nvSpPr>
        <p:spPr>
          <a:xfrm>
            <a:off x="713160" y="354780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Restore-Zyklus erneut erfolgreich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8"/>
          <p:cNvSpPr/>
          <p:nvPr/>
        </p:nvSpPr>
        <p:spPr>
          <a:xfrm>
            <a:off x="4526280" y="1234440"/>
            <a:ext cx="3657240" cy="223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15" name="Picture 9" descr="slide_13.png"/>
          <p:cNvPicPr/>
          <p:nvPr/>
        </p:nvPicPr>
        <p:blipFill>
          <a:blip r:embed="rId3"/>
          <a:stretch/>
        </p:blipFill>
        <p:spPr>
          <a:xfrm>
            <a:off x="4526280" y="1605600"/>
            <a:ext cx="3657240" cy="149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Box 10"/>
          <p:cNvSpPr/>
          <p:nvPr/>
        </p:nvSpPr>
        <p:spPr>
          <a:xfrm>
            <a:off x="4599360" y="3547800"/>
            <a:ext cx="3520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SSH-Dienst nach Fehlerbehebung wieder aktiv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Rectangle 11"/>
          <p:cNvSpPr/>
          <p:nvPr/>
        </p:nvSpPr>
        <p:spPr>
          <a:xfrm>
            <a:off x="8412480" y="1234440"/>
            <a:ext cx="3154320" cy="223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18" name="Picture 12" descr="slide_15.png"/>
          <p:cNvPicPr/>
          <p:nvPr/>
        </p:nvPicPr>
        <p:blipFill>
          <a:blip r:embed="rId4"/>
          <a:stretch/>
        </p:blipFill>
        <p:spPr>
          <a:xfrm>
            <a:off x="8412480" y="2113560"/>
            <a:ext cx="3154320" cy="48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TextBox 13"/>
          <p:cNvSpPr/>
          <p:nvPr/>
        </p:nvSpPr>
        <p:spPr>
          <a:xfrm>
            <a:off x="8485560" y="3547800"/>
            <a:ext cx="2971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850" b="0" i="1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Lösch-/Rechte-Test zur Simulation eines Datenverlusts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Box 14"/>
          <p:cNvSpPr/>
          <p:nvPr/>
        </p:nvSpPr>
        <p:spPr>
          <a:xfrm>
            <a:off x="685800" y="4114800"/>
            <a:ext cx="1848960" cy="31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Abschluss-Check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15"/>
          <p:cNvSpPr/>
          <p:nvPr/>
        </p:nvSpPr>
        <p:spPr>
          <a:xfrm>
            <a:off x="731520" y="457200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E7D4E"/>
                </a:solidFill>
                <a:effectLst/>
                <a:uFillTx/>
                <a:latin typeface="Aptos"/>
              </a:rPr>
              <a:t>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16"/>
          <p:cNvSpPr/>
          <p:nvPr/>
        </p:nvSpPr>
        <p:spPr>
          <a:xfrm>
            <a:off x="1115640" y="459036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Benutzer &amp; Gruppen erneut geprüft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17"/>
          <p:cNvSpPr/>
          <p:nvPr/>
        </p:nvSpPr>
        <p:spPr>
          <a:xfrm>
            <a:off x="731520" y="507492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E7D4E"/>
                </a:solidFill>
                <a:effectLst/>
                <a:uFillTx/>
                <a:latin typeface="Aptos"/>
              </a:rPr>
              <a:t>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18"/>
          <p:cNvSpPr/>
          <p:nvPr/>
        </p:nvSpPr>
        <p:spPr>
          <a:xfrm>
            <a:off x="1115640" y="509328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Ordnerrechte und Zugriffstests wiederholt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19"/>
          <p:cNvSpPr/>
          <p:nvPr/>
        </p:nvSpPr>
        <p:spPr>
          <a:xfrm>
            <a:off x="731520" y="557784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E7D4E"/>
                </a:solidFill>
                <a:effectLst/>
                <a:uFillTx/>
                <a:latin typeface="Aptos"/>
              </a:rPr>
              <a:t>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20"/>
          <p:cNvSpPr/>
          <p:nvPr/>
        </p:nvSpPr>
        <p:spPr>
          <a:xfrm>
            <a:off x="1115640" y="55962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Backup + Restore erneut ausgeführt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21"/>
          <p:cNvSpPr/>
          <p:nvPr/>
        </p:nvSpPr>
        <p:spPr>
          <a:xfrm>
            <a:off x="6217920" y="457200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E7D4E"/>
                </a:solidFill>
                <a:effectLst/>
                <a:uFillTx/>
                <a:latin typeface="Aptos"/>
              </a:rPr>
              <a:t>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22"/>
          <p:cNvSpPr/>
          <p:nvPr/>
        </p:nvSpPr>
        <p:spPr>
          <a:xfrm>
            <a:off x="6602040" y="459036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Crontab und Diskcheck abgeglichen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Box 23"/>
          <p:cNvSpPr/>
          <p:nvPr/>
        </p:nvSpPr>
        <p:spPr>
          <a:xfrm>
            <a:off x="6217920" y="507492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E7D4E"/>
                </a:solidFill>
                <a:effectLst/>
                <a:uFillTx/>
                <a:latin typeface="Aptos"/>
              </a:rPr>
              <a:t>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Box 24"/>
          <p:cNvSpPr/>
          <p:nvPr/>
        </p:nvSpPr>
        <p:spPr>
          <a:xfrm>
            <a:off x="6602040" y="509328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Monitoring, UFW und Tagesbericht getestet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Box 25"/>
          <p:cNvSpPr/>
          <p:nvPr/>
        </p:nvSpPr>
        <p:spPr>
          <a:xfrm>
            <a:off x="6217920" y="5577840"/>
            <a:ext cx="319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E7D4E"/>
                </a:solidFill>
                <a:effectLst/>
                <a:uFillTx/>
                <a:latin typeface="Aptos"/>
              </a:rPr>
              <a:t>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Box 26"/>
          <p:cNvSpPr/>
          <p:nvPr/>
        </p:nvSpPr>
        <p:spPr>
          <a:xfrm>
            <a:off x="6602040" y="559620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Alle 10 Pflichtskripte vorhanden und lauffähig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Rectangle 27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4" name="TextBox 28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Box 29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12. Fehlerprotokoll und Verbesserungspotenzial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Fehler wurden nicht nur behoben, sondern als Lern- und Verbesserungsfälle dokumentiert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LESSONS LEARNED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ounded Rectangle 5"/>
          <p:cNvSpPr/>
          <p:nvPr/>
        </p:nvSpPr>
        <p:spPr>
          <a:xfrm>
            <a:off x="640080" y="1234440"/>
            <a:ext cx="352008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Oval 6"/>
          <p:cNvSpPr/>
          <p:nvPr/>
        </p:nvSpPr>
        <p:spPr>
          <a:xfrm>
            <a:off x="804600" y="1398960"/>
            <a:ext cx="420120" cy="420120"/>
          </a:xfrm>
          <a:prstGeom prst="ellipse">
            <a:avLst/>
          </a:prstGeom>
          <a:solidFill>
            <a:srgbClr val="B73939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2" name="TextBox 7"/>
          <p:cNvSpPr/>
          <p:nvPr/>
        </p:nvSpPr>
        <p:spPr>
          <a:xfrm>
            <a:off x="804600" y="1422000"/>
            <a:ext cx="42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8"/>
          <p:cNvSpPr/>
          <p:nvPr/>
        </p:nvSpPr>
        <p:spPr>
          <a:xfrm>
            <a:off x="1353240" y="137160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tar: falsche Option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9"/>
          <p:cNvSpPr/>
          <p:nvPr/>
        </p:nvSpPr>
        <p:spPr>
          <a:xfrm>
            <a:off x="1353240" y="1710000"/>
            <a:ext cx="2651400" cy="7631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Beim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ersten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Restore-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Versuch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wurden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-c und -x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kombiniert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 Die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Korrektur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auf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Extraktion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mit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-C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führte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zum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erfolgreichen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Restore.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ounded Rectangle 10"/>
          <p:cNvSpPr/>
          <p:nvPr/>
        </p:nvSpPr>
        <p:spPr>
          <a:xfrm>
            <a:off x="4343400" y="1234440"/>
            <a:ext cx="352008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6" name="Oval 11"/>
          <p:cNvSpPr/>
          <p:nvPr/>
        </p:nvSpPr>
        <p:spPr>
          <a:xfrm>
            <a:off x="4507920" y="1398960"/>
            <a:ext cx="420120" cy="420120"/>
          </a:xfrm>
          <a:prstGeom prst="ellipse">
            <a:avLst/>
          </a:prstGeom>
          <a:solidFill>
            <a:srgbClr val="1E7E8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Box 12"/>
          <p:cNvSpPr/>
          <p:nvPr/>
        </p:nvSpPr>
        <p:spPr>
          <a:xfrm>
            <a:off x="4507920" y="1422000"/>
            <a:ext cx="42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Box 13"/>
          <p:cNvSpPr/>
          <p:nvPr/>
        </p:nvSpPr>
        <p:spPr>
          <a:xfrm>
            <a:off x="5056560" y="137160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NAT → Netzwerkbrücke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14"/>
          <p:cNvSpPr/>
          <p:nvPr/>
        </p:nvSpPr>
        <p:spPr>
          <a:xfrm>
            <a:off x="5056560" y="1710000"/>
            <a:ext cx="2651400" cy="7631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Die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initiale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NAT-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Adresse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10.0.2.15 war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vom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Admin-Client nicht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direkt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erreichbar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 Die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Netzwerkbrücke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stellte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192.168.2.53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bereit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Rounded Rectangle 15"/>
          <p:cNvSpPr/>
          <p:nvPr/>
        </p:nvSpPr>
        <p:spPr>
          <a:xfrm>
            <a:off x="8046720" y="1234440"/>
            <a:ext cx="3520080" cy="1599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Oval 16"/>
          <p:cNvSpPr/>
          <p:nvPr/>
        </p:nvSpPr>
        <p:spPr>
          <a:xfrm>
            <a:off x="8211240" y="1398960"/>
            <a:ext cx="420120" cy="420120"/>
          </a:xfrm>
          <a:prstGeom prst="ellipse">
            <a:avLst/>
          </a:prstGeom>
          <a:solidFill>
            <a:srgbClr val="683D91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TextBox 17"/>
          <p:cNvSpPr/>
          <p:nvPr/>
        </p:nvSpPr>
        <p:spPr>
          <a:xfrm>
            <a:off x="8211240" y="1422000"/>
            <a:ext cx="420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18"/>
          <p:cNvSpPr/>
          <p:nvPr/>
        </p:nvSpPr>
        <p:spPr>
          <a:xfrm>
            <a:off x="8759880" y="1371600"/>
            <a:ext cx="2651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Syslog vs. journald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19"/>
          <p:cNvSpPr/>
          <p:nvPr/>
        </p:nvSpPr>
        <p:spPr>
          <a:xfrm>
            <a:off x="8759880" y="1710000"/>
            <a:ext cx="2651400" cy="7631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Die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klassische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grep-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Auswertung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von /var/log/syslog war für den Cron-Fall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ungeeignet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journalctl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-u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cron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ist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der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passende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Diagnoseweg</a:t>
            </a:r>
            <a:r>
              <a:rPr lang="en-US" sz="115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Rounded Rectangle 20"/>
          <p:cNvSpPr/>
          <p:nvPr/>
        </p:nvSpPr>
        <p:spPr>
          <a:xfrm>
            <a:off x="640080" y="3246120"/>
            <a:ext cx="10926720" cy="2240280"/>
          </a:xfrm>
          <a:prstGeom prst="roundRect">
            <a:avLst>
              <a:gd name="adj" fmla="val 16667"/>
            </a:avLst>
          </a:prstGeom>
          <a:solidFill>
            <a:srgbClr val="FFF7EF"/>
          </a:solidFill>
          <a:ln w="12700">
            <a:solidFill>
              <a:srgbClr val="F0D6B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6" name="TextBox 21"/>
          <p:cNvSpPr/>
          <p:nvPr/>
        </p:nvSpPr>
        <p:spPr>
          <a:xfrm>
            <a:off x="914400" y="3520440"/>
            <a:ext cx="3370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EB7E2D"/>
                </a:solidFill>
                <a:effectLst/>
                <a:uFillTx/>
                <a:latin typeface="Aptos"/>
              </a:rPr>
              <a:t>Offener Verbesserungspunkt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22"/>
          <p:cNvSpPr/>
          <p:nvPr/>
        </p:nvSpPr>
        <p:spPr>
          <a:xfrm>
            <a:off x="914400" y="397764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ssh-audit.sh und daily-admin-report.sh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23"/>
          <p:cNvSpPr/>
          <p:nvPr/>
        </p:nvSpPr>
        <p:spPr>
          <a:xfrm>
            <a:off x="914400" y="4316040"/>
            <a:ext cx="658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B303A"/>
                </a:solidFill>
                <a:effectLst/>
                <a:uFillTx/>
                <a:latin typeface="Aptos"/>
              </a:rPr>
              <a:t>verwenden den Befehl „last“, der auf dem minimal installierten Server nicht vorhanden ist.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24"/>
          <p:cNvSpPr/>
          <p:nvPr/>
        </p:nvSpPr>
        <p:spPr>
          <a:xfrm>
            <a:off x="914400" y="4690800"/>
            <a:ext cx="97837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8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Produktiv wäre entweder die Nachinstallation des benötigten Pakets oder eine gleichwertige journalctl-Abfrage sinnvoll.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25"/>
          <p:cNvSpPr/>
          <p:nvPr/>
        </p:nvSpPr>
        <p:spPr>
          <a:xfrm>
            <a:off x="914400" y="5102280"/>
            <a:ext cx="97837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8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Wichtig: Die übrige Auswertung läuft weiter; die Fehlermeldung ist dokumentiert und reproduzierbar.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26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27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28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Rectangle 1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2"/>
          <p:cNvSpPr/>
          <p:nvPr/>
        </p:nvSpPr>
        <p:spPr>
          <a:xfrm>
            <a:off x="594360" y="32004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61F35"/>
                </a:solidFill>
                <a:effectLst/>
                <a:uFillTx/>
                <a:latin typeface="Aptos"/>
              </a:rPr>
              <a:t>13. Fazit – Was wurde erreicht?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3"/>
          <p:cNvSpPr/>
          <p:nvPr/>
        </p:nvSpPr>
        <p:spPr>
          <a:xfrm>
            <a:off x="621720" y="80460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Vom Aufbau über die Administration bis zum getesteten Betriebsablauf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Box 4"/>
          <p:cNvSpPr/>
          <p:nvPr/>
        </p:nvSpPr>
        <p:spPr>
          <a:xfrm>
            <a:off x="10058400" y="320040"/>
            <a:ext cx="1508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FAZIT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Rounded Rectangle 5"/>
          <p:cNvSpPr/>
          <p:nvPr/>
        </p:nvSpPr>
        <p:spPr>
          <a:xfrm>
            <a:off x="685800" y="1143000"/>
            <a:ext cx="10835280" cy="1051200"/>
          </a:xfrm>
          <a:prstGeom prst="roundRect">
            <a:avLst>
              <a:gd name="adj" fmla="val 16667"/>
            </a:avLst>
          </a:prstGeom>
          <a:solidFill>
            <a:srgbClr val="161F35"/>
          </a:solidFill>
          <a:ln w="12700">
            <a:solidFill>
              <a:srgbClr val="161F3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Box 6"/>
          <p:cNvSpPr/>
          <p:nvPr/>
        </p:nvSpPr>
        <p:spPr>
          <a:xfrm>
            <a:off x="914400" y="1435680"/>
            <a:ext cx="10378080" cy="7015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1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server01 </a:t>
            </a:r>
            <a:r>
              <a:rPr lang="en-US" sz="21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ist</a:t>
            </a:r>
            <a:r>
              <a:rPr lang="en-US" sz="21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1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als</a:t>
            </a:r>
            <a:r>
              <a:rPr lang="en-US" sz="21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1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funktionsfähiger</a:t>
            </a:r>
            <a:r>
              <a:rPr lang="en-US" sz="21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Ubuntu-</a:t>
            </a:r>
            <a:r>
              <a:rPr lang="en-US" sz="21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Firmenserver</a:t>
            </a:r>
            <a:r>
              <a:rPr lang="en-US" sz="21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1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vollständig</a:t>
            </a:r>
            <a:r>
              <a:rPr lang="en-US" sz="21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per SSH </a:t>
            </a:r>
            <a:r>
              <a:rPr lang="en-US" sz="21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administrierbar</a:t>
            </a:r>
            <a:r>
              <a:rPr lang="en-US" sz="21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.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Rounded Rectangle 7"/>
          <p:cNvSpPr/>
          <p:nvPr/>
        </p:nvSpPr>
        <p:spPr>
          <a:xfrm>
            <a:off x="685800" y="2514600"/>
            <a:ext cx="29714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8"/>
          <p:cNvSpPr/>
          <p:nvPr/>
        </p:nvSpPr>
        <p:spPr>
          <a:xfrm>
            <a:off x="850320" y="267912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Identitäten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9"/>
          <p:cNvSpPr/>
          <p:nvPr/>
        </p:nvSpPr>
        <p:spPr>
          <a:xfrm>
            <a:off x="850320" y="3044880"/>
            <a:ext cx="2559960" cy="3999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CSV-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basierte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Benutzer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- und 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Gruppenverwaltung</a:t>
            </a:r>
            <a:endParaRPr lang="en-U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Rounded Rectangle 10"/>
          <p:cNvSpPr/>
          <p:nvPr/>
        </p:nvSpPr>
        <p:spPr>
          <a:xfrm>
            <a:off x="3977640" y="2514600"/>
            <a:ext cx="29714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11"/>
          <p:cNvSpPr/>
          <p:nvPr/>
        </p:nvSpPr>
        <p:spPr>
          <a:xfrm>
            <a:off x="4142160" y="267912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Berechtigungen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12"/>
          <p:cNvSpPr/>
          <p:nvPr/>
        </p:nvSpPr>
        <p:spPr>
          <a:xfrm>
            <a:off x="4142160" y="3044880"/>
            <a:ext cx="2559960" cy="3999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Abteilungsbezogene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770/775-Struktur 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unter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/company</a:t>
            </a:r>
            <a:endParaRPr lang="en-U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Rounded Rectangle 13"/>
          <p:cNvSpPr/>
          <p:nvPr/>
        </p:nvSpPr>
        <p:spPr>
          <a:xfrm>
            <a:off x="7269480" y="2514600"/>
            <a:ext cx="29714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14"/>
          <p:cNvSpPr/>
          <p:nvPr/>
        </p:nvSpPr>
        <p:spPr>
          <a:xfrm>
            <a:off x="7434000" y="267912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Datensicherung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15"/>
          <p:cNvSpPr/>
          <p:nvPr/>
        </p:nvSpPr>
        <p:spPr>
          <a:xfrm>
            <a:off x="7434000" y="3044880"/>
            <a:ext cx="2559960" cy="3999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Backup + 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mehrfach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praktisch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getesteter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Restore</a:t>
            </a:r>
            <a:endParaRPr lang="en-U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ounded Rectangle 16"/>
          <p:cNvSpPr/>
          <p:nvPr/>
        </p:nvSpPr>
        <p:spPr>
          <a:xfrm>
            <a:off x="685800" y="4160520"/>
            <a:ext cx="29714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TextBox 17"/>
          <p:cNvSpPr/>
          <p:nvPr/>
        </p:nvSpPr>
        <p:spPr>
          <a:xfrm>
            <a:off x="850320" y="432504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Automatisierung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18"/>
          <p:cNvSpPr/>
          <p:nvPr/>
        </p:nvSpPr>
        <p:spPr>
          <a:xfrm>
            <a:off x="850320" y="4690800"/>
            <a:ext cx="2559960" cy="3999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Cron: Backup, 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Bericht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, Checks, 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Logauswertung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, Cleanup</a:t>
            </a:r>
            <a:endParaRPr lang="en-U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ounded Rectangle 19"/>
          <p:cNvSpPr/>
          <p:nvPr/>
        </p:nvSpPr>
        <p:spPr>
          <a:xfrm>
            <a:off x="3977640" y="4160520"/>
            <a:ext cx="29714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TextBox 20"/>
          <p:cNvSpPr/>
          <p:nvPr/>
        </p:nvSpPr>
        <p:spPr>
          <a:xfrm>
            <a:off x="4142160" y="432504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Sicherheit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Box 21"/>
          <p:cNvSpPr/>
          <p:nvPr/>
        </p:nvSpPr>
        <p:spPr>
          <a:xfrm>
            <a:off x="4142160" y="4690800"/>
            <a:ext cx="2559960" cy="3999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SSH-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Schlüssel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, Root-Login-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Einschränkung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, UFW</a:t>
            </a:r>
            <a:endParaRPr lang="en-U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Rounded Rectangle 22"/>
          <p:cNvSpPr/>
          <p:nvPr/>
        </p:nvSpPr>
        <p:spPr>
          <a:xfrm>
            <a:off x="7269480" y="4160520"/>
            <a:ext cx="29714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0E3E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TextBox 23"/>
          <p:cNvSpPr/>
          <p:nvPr/>
        </p:nvSpPr>
        <p:spPr>
          <a:xfrm>
            <a:off x="7434000" y="432504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Betrieb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24"/>
          <p:cNvSpPr/>
          <p:nvPr/>
        </p:nvSpPr>
        <p:spPr>
          <a:xfrm>
            <a:off x="7434000" y="4690800"/>
            <a:ext cx="2559960" cy="3999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Monitoring, 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Logauswertung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, </a:t>
            </a:r>
            <a:r>
              <a:rPr lang="en-US" sz="1120" b="0" u="none" strike="noStrike" dirty="0" err="1">
                <a:solidFill>
                  <a:srgbClr val="2B303A"/>
                </a:solidFill>
                <a:effectLst/>
                <a:uFillTx/>
                <a:latin typeface="Aptos"/>
              </a:rPr>
              <a:t>Fehleranalyse</a:t>
            </a:r>
            <a:r>
              <a:rPr lang="en-US" sz="1120" b="0" u="none" strike="noStrike" dirty="0">
                <a:solidFill>
                  <a:srgbClr val="2B303A"/>
                </a:solidFill>
                <a:effectLst/>
                <a:uFillTx/>
                <a:latin typeface="Aptos"/>
              </a:rPr>
              <a:t> und Re-Tests</a:t>
            </a:r>
            <a:endParaRPr lang="en-US" sz="11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Box 25"/>
          <p:cNvSpPr/>
          <p:nvPr/>
        </p:nvSpPr>
        <p:spPr>
          <a:xfrm>
            <a:off x="914400" y="562356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Zentrale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Erkenntnis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: Gute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Systemadministration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bedeutet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 nicht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nur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Konfiguration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,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sondern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auch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Testbarkeit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,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Fehlerdiagnose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,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Dokumentation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 und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nachvollziehbare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 </a:t>
            </a:r>
            <a:r>
              <a:rPr lang="en-US" sz="1300" b="1" u="none" strike="noStrike" dirty="0" err="1">
                <a:solidFill>
                  <a:srgbClr val="161F35"/>
                </a:solidFill>
                <a:effectLst/>
                <a:uFillTx/>
                <a:latin typeface="Aptos"/>
              </a:rPr>
              <a:t>Wiederherstellung</a:t>
            </a:r>
            <a:r>
              <a:rPr lang="en-US" sz="1300" b="1" u="none" strike="noStrike" dirty="0">
                <a:solidFill>
                  <a:srgbClr val="161F35"/>
                </a:solidFill>
                <a:effectLst/>
                <a:uFillTx/>
                <a:latin typeface="Aptos"/>
              </a:rPr>
              <a:t>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ectangle 26"/>
          <p:cNvSpPr/>
          <p:nvPr/>
        </p:nvSpPr>
        <p:spPr>
          <a:xfrm>
            <a:off x="594360" y="6510600"/>
            <a:ext cx="10972440" cy="8640"/>
          </a:xfrm>
          <a:prstGeom prst="rect">
            <a:avLst/>
          </a:prstGeom>
          <a:solidFill>
            <a:srgbClr val="E0E3E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0" rIns="90000" bIns="-36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TextBox 27"/>
          <p:cNvSpPr/>
          <p:nvPr/>
        </p:nvSpPr>
        <p:spPr>
          <a:xfrm>
            <a:off x="621720" y="6556320"/>
            <a:ext cx="32781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46C7A"/>
                </a:solidFill>
                <a:effectLst/>
                <a:uFillTx/>
                <a:latin typeface="Aptos"/>
              </a:rPr>
              <a:t>IHK Abschlussprojekt · Linux-Systemadministration · 29.09.2026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28"/>
          <p:cNvSpPr/>
          <p:nvPr/>
        </p:nvSpPr>
        <p:spPr>
          <a:xfrm>
            <a:off x="10972800" y="6528960"/>
            <a:ext cx="548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83D91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Rectangle 1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161F35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Rectangle 2"/>
          <p:cNvSpPr/>
          <p:nvPr/>
        </p:nvSpPr>
        <p:spPr>
          <a:xfrm>
            <a:off x="0" y="0"/>
            <a:ext cx="12191760" cy="118440"/>
          </a:xfrm>
          <a:prstGeom prst="rect">
            <a:avLst/>
          </a:prstGeom>
          <a:solidFill>
            <a:srgbClr val="EB7E2D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TextBox 3"/>
          <p:cNvSpPr/>
          <p:nvPr/>
        </p:nvSpPr>
        <p:spPr>
          <a:xfrm>
            <a:off x="914400" y="187452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Vielen Dank für Ihre Aufmerksamkeit.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4"/>
          <p:cNvSpPr/>
          <p:nvPr/>
        </p:nvSpPr>
        <p:spPr>
          <a:xfrm>
            <a:off x="914400" y="2697480"/>
            <a:ext cx="10332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EEDCF6"/>
                </a:solidFill>
                <a:effectLst/>
                <a:uFillTx/>
                <a:latin typeface="Aptos"/>
              </a:rPr>
              <a:t>Fragen?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5"/>
          <p:cNvSpPr/>
          <p:nvPr/>
        </p:nvSpPr>
        <p:spPr>
          <a:xfrm>
            <a:off x="3924000" y="3794760"/>
            <a:ext cx="4314240" cy="26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IHK Abschlussprojekt · Linux-Systemadministration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6"/>
          <p:cNvSpPr/>
          <p:nvPr/>
        </p:nvSpPr>
        <p:spPr>
          <a:xfrm>
            <a:off x="914400" y="4224600"/>
            <a:ext cx="10332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2DAE6"/>
                </a:solidFill>
                <a:effectLst/>
                <a:uFillTx/>
                <a:latin typeface="Aptos"/>
              </a:rPr>
              <a:t>Sivaranjani Sekar · 29/09/2026 · server01 · 192.168.2.53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1436</Words>
  <Application>Microsoft Office PowerPoint</Application>
  <PresentationFormat>Breitbild</PresentationFormat>
  <Paragraphs>287</Paragraphs>
  <Slides>15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3" baseType="lpstr">
      <vt:lpstr>Aptos</vt:lpstr>
      <vt:lpstr>Arial</vt:lpstr>
      <vt:lpstr>Calibri</vt:lpstr>
      <vt:lpstr>Cascadia Mono</vt:lpstr>
      <vt:lpstr>Symbol</vt:lpstr>
      <vt:lpstr>Times New Roman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>Sivaranjani  Sekar</cp:lastModifiedBy>
  <cp:revision>42</cp:revision>
  <dcterms:created xsi:type="dcterms:W3CDTF">2013-01-27T09:14:16Z</dcterms:created>
  <dcterms:modified xsi:type="dcterms:W3CDTF">2026-09-24T12:01:11Z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